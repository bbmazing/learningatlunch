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Welcome. I am Bryan, from Analytics &amp; Decision Making.</a:t>
            </a:r>
          </a:p>
          <a:p/>
          <a:p>
            <a:r>
              <a:t>Today: practical ways to use AI in your work, shown with four tools built in this bank.</a:t>
            </a:r>
          </a:p>
          <a:p/>
          <a:p>
            <a:r>
              <a:t>Questions in the chat any time. I pause after each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LLM = Large Language Model. AI trained on huge amounts of text.</a:t>
            </a:r>
          </a:p>
          <a:p/>
          <a:p>
            <a:r>
              <a:t>Every logo is an LLM, or a product built on one.</a:t>
            </a:r>
          </a:p>
          <a:p/>
          <a:p>
            <a:r>
              <a:t>ChatGPT is the app. GPT-5 is the engine inside, like a car and its engine.</a:t>
            </a:r>
          </a:p>
          <a:p/>
          <a:p>
            <a:r>
              <a:t>Most people use the free, standard model. The paid tiers run stronger ones.</a:t>
            </a:r>
          </a:p>
          <a:p/>
          <a:p>
            <a:r>
              <a:t>Ask: who used one this week? Most hands go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of the best uses of an LLM is also the simplest: a chatbot.</a:t>
            </a:r>
          </a:p>
          <a:p/>
          <a:p>
            <a:r>
              <a:t>Watch the rhythm on the right. You type, it answers, you refine. A conversation, not a search box.</a:t>
            </a:r>
          </a:p>
          <a:p/>
          <a:p>
            <a:r>
              <a:t>It lifts your productivity and work efficiency: drafts, summaries, answers in seconds instead of hours.</a:t>
            </a:r>
          </a:p>
          <a:p/>
          <a:p>
            <a:r>
              <a:t>Later in this session I will show you 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Public AI runs in someone else’s cloud. Confidential bank data must not go there.</a:t>
            </a:r>
          </a:p>
          <a:p/>
          <a:p>
            <a:r>
              <a:t>So OCBC Indonesia went on-premise. We bought GPUs to host multiple open-source models. One of them is Qwen 3.6.</a:t>
            </a:r>
          </a:p>
          <a:p/>
          <a:p>
            <a:r>
              <a:t>Use the in-house built applications. Your prompts and documents stay inside the bank.</a:t>
            </a:r>
          </a:p>
          <a:p/>
          <a:p>
            <a:r>
              <a:t>Every demo you will see today runs on this setup.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Everyone arrives with questions: will it replace us, can it help my work, where do I start?</a:t>
            </a:r>
          </a:p>
          <a:p/>
          <a:p>
            <a:r>
              <a:t>For us this is not a question. AI already works in this bank.</a:t>
            </a:r>
          </a:p>
          <a:p/>
          <a:p>
            <a:r>
              <a:t>Goal today: understand it, watch it work, leave with ideas for your desk.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 to open the box.</a:t>
            </a:r>
          </a:p>
          <a:p/>
          <a:p>
            <a:r>
              <a:t>One idea explains everything: the magic and the mistakes.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 LLM does one thing: guess the next word.</a:t>
            </a:r>
          </a:p>
          <a:p/>
          <a:p>
            <a:r>
              <a:t>Your phone keyboard is a tiny version of this.</a:t>
            </a:r>
          </a:p>
          <a:p/>
          <a:p>
            <a:r>
              <a:t>It adds a word, then guesses again, until the answer is done.</a:t>
            </a:r>
          </a:p>
          <a:p/>
          <a:p>
            <a:r>
              <a:t>Small confession before we move on: word is not exactly the right unit.</a:t>
            </a:r>
          </a:p>
          <a:p/>
          <a:p>
            <a:r>
              <a:t>Hold this picture. The next slide sharpens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 the last slide I kept saying words. Here is the correction: the real unit is the token.</a:t>
            </a:r>
          </a:p>
          <a:p/>
          <a:p>
            <a:r>
              <a:t>Follow the pipeline. Step one: the sentence you type.</a:t>
            </a:r>
          </a:p>
          <a:p/>
          <a:p>
            <a:r>
              <a:t>Step two: it gets cut into tokens, numbered pieces from the model’s dictionary of about 100,000 entries. Short word, one piece. A long word like menguntungkan becomes three.</a:t>
            </a:r>
          </a:p>
          <a:p/>
          <a:p>
            <a:r>
              <a:t>Step three: what the model actually receives. No letters. A list of numbers, and inside, each number becomes thousands of numbers. Predicting is math on those.</a:t>
            </a:r>
          </a:p>
          <a:p/>
          <a:p>
            <a:r>
              <a:t>Rule of thumb: 1,000 tokens is about 750 English words. Next-word prediction is really next-token prediction.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token in and out gets counted. Tokens are the meter.</a:t>
            </a:r>
          </a:p>
          <a:p/>
          <a:p>
            <a:r>
              <a:t>Read the receipt: a short email is a few hundred tokens. A 40-page report is tens of thousands.</a:t>
            </a:r>
          </a:p>
          <a:p/>
          <a:p>
            <a:r>
              <a:t>For consumers it is a subscription: free, or 20 dollars a month for ChatGPT Plus.</a:t>
            </a:r>
          </a:p>
          <a:p/>
          <a:p>
            <a:r>
              <a:t>For companies it is per token. Our self-hosted Qwen 3.6 works out around 3 dollars per million tokens, mostly the GPU hosting cost. GPT-5.5, the best GPT today, charges 30 dollars per million output tokens. Ten times ours.</a:t>
            </a:r>
          </a:p>
          <a:p/>
          <a:p>
            <a:r>
              <a:t>That is why the bank sizes the model to the task. Nothing for you to do. Just know AI has a price tag.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It learned by reading books, articles, code and forums. A huge library.</a:t>
            </a:r>
          </a:p>
          <a:p/>
          <a:p>
            <a:r>
              <a:t>Training stops at a date. After that date, the model has read nothing.</a:t>
            </a:r>
          </a:p>
          <a:p/>
          <a:p>
            <a:r>
              <a:t>Ask about last week and it may guess. Fluent about the past, blind to the present.</a:t>
            </a:r>
          </a:p>
          <a:p/>
          <a:p>
            <a:r>
              <a:t>Remember this. Part 2 shows how tools feed it fresh information.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news first. Anything shaped like language work, it does well.</a:t>
            </a:r>
          </a:p>
          <a:p/>
          <a:p>
            <a:r>
              <a:t>Four everyday wins: draft, summarise, translate, explain.</a:t>
            </a:r>
          </a:p>
          <a:p/>
          <a:p>
            <a:r>
              <a:t>Each card carries a starter prompt you can copy this afternoon.</a:t>
            </a:r>
          </a:p>
          <a:p/>
          <a:p>
            <a:r>
              <a:t>If the task is language in, language out, it is probably good at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Before the tools: how to ask well. Clarity beats everything.</a:t>
            </a:r>
          </a:p>
          <a:p/>
          <a:p>
            <a:r>
              <a:t>Watch the transformation. The vague prompt becomes a clear one by adding three things.</a:t>
            </a:r>
          </a:p>
          <a:p/>
          <a:p>
            <a:r>
              <a:t>The task, exactly. The background it cannot know. The format, tone and length.</a:t>
            </a:r>
          </a:p>
          <a:p/>
          <a:p>
            <a:r>
              <a:t>Not happy with the answer? Refine and ask again. It never gets tired.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 use a framework. The one I like is COSTAR.</a:t>
            </a:r>
          </a:p>
          <a:p/>
          <a:p>
            <a:r>
              <a:t>Read it down the left edge: Context, Objective, Style, Tone, Audience, Response.</a:t>
            </a:r>
          </a:p>
          <a:p/>
          <a:p>
            <a:r>
              <a:t>Six boxes to fill before you press enter. Skip what you do not need.</a:t>
            </a:r>
          </a:p>
          <a:p/>
          <a:p>
            <a:r>
              <a:t>Next slide: a real one, filled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New scenario: generating a report. This is where unwanted extras and hallucination hurt, so we fence them in.</a:t>
            </a:r>
          </a:p>
          <a:p/>
          <a:p>
            <a:r>
              <a:t>The R box does the heavy work: exact columns, only from my notes, N/A for missing data. No adding, no inventing.</a:t>
            </a:r>
          </a:p>
          <a:p/>
          <a:p>
            <a:r>
              <a:t>Right: the table it produced. Five columns as ordered, and look at the last row: N/A instead of a made-up answer.</a:t>
            </a:r>
          </a:p>
          <a:p/>
          <a:p>
            <a:r>
              <a:t>Specify the shape and the rules, and you get the report you wanted. Copy this shape.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more thing before the tools: practice. You will never be good at this unless you try.</a:t>
            </a:r>
          </a:p>
          <a:p/>
          <a:p>
            <a:r>
              <a:t>We have our own internal ChatGPT: Chat OCBC. It runs inside the bank, on our Qwen.</a:t>
            </a:r>
          </a:p>
          <a:p/>
          <a:p>
            <a:r>
              <a:t>For daily work it is already enough: summaries, drafts, translations, explanations, ideas.</a:t>
            </a:r>
          </a:p>
          <a:p/>
          <a:p>
            <a:r>
              <a:t>Open it after this session. Try the starter prompts from today. Bookmark it: this is your training ground.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Before part two, the honest part: the limits. Four big ones.</a:t>
            </a:r>
          </a:p>
          <a:p/>
          <a:p>
            <a:r>
              <a:t>No news after its training date. Weak at exact math. Blind to our data. And it can invent facts with confidence, like citing an OJK rule that does not exist.</a:t>
            </a:r>
          </a:p>
          <a:p/>
          <a:p>
            <a:r>
              <a:t>Key message: every limit has a fix, and most fixes are tools. Web search, a calculator, our documents.</a:t>
            </a:r>
          </a:p>
          <a:p/>
          <a:p>
            <a:r>
              <a:t>That is Part 2. Let us 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two: the fixes we promised.</a:t>
            </a:r>
          </a:p>
          <a:p/>
          <a:p>
            <a:r>
              <a:t>Four ideas: tools, agents, grounding, and a human in the loop.</a:t>
            </a:r>
          </a:p>
          <a:p/>
          <a:p>
            <a:r>
              <a:t>Two of them you will watch run live in this part.</a:t>
            </a:r>
          </a:p>
          <a:p/>
          <a:p>
            <a:r>
              <a:t>Every use case in part three runs on them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Remember the fixes we promised on the limits slide: web search, a calculator, our documents. They are all the same idea: tools.</a:t>
            </a:r>
          </a:p>
          <a:p/>
          <a:p>
            <a:r>
              <a:t>Ask for the dollar rate. The model knows its training data is stale, so it calls the rate tool and answers with the live number.</a:t>
            </a:r>
          </a:p>
          <a:p/>
          <a:p>
            <a:r>
              <a:t>The model thinks and writes. Tools fetch facts and act.</a:t>
            </a:r>
          </a:p>
          <a:p/>
          <a:p>
            <a:r>
              <a:t>This one idea powers every use case coming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 agent is an LLM in a loop: plan, act, check, repeat until done.</a:t>
            </a:r>
          </a:p>
          <a:p/>
          <a:p>
            <a:r>
              <a:t>You give it a goal, not a question.</a:t>
            </a:r>
          </a:p>
          <a:p/>
          <a:p>
            <a:r>
              <a:t>Watch it for real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the agent loop for real. We added one tool: web search. A paid, licensed tool, because scraping is not allowed for regulatory reasons.</a:t>
            </a:r>
          </a:p>
          <a:p/>
          <a:p>
            <a:r>
              <a:t>The flow on top: names in, the agent writes its searches, reads and filters, builds a verdict, and a human reviews at the end.</a:t>
            </a:r>
          </a:p>
          <a:p/>
          <a:p>
            <a:r>
              <a:t>Now watch the console run. It calls the search tool, the court databases, the sanction lists. It reads 43 results and keeps credible sources only.</a:t>
            </a:r>
          </a:p>
          <a:p/>
          <a:p>
            <a:r>
              <a:t>And when the loop is done, out comes the report: risk verdict, narrative with citations. The officer reviews it and it goes to the KYC file.</a:t>
            </a:r>
          </a:p>
          <a:p/>
          <a:p>
            <a:r>
              <a:t>That is tool calling plus the loop. One goal in, one report 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Third idea: grounding. The model has never read our documents. So we provide them.</a:t>
            </a:r>
          </a:p>
          <a:p/>
          <a:p>
            <a:r>
              <a:t>Upload the project files once: the PRD, the timeline, the minutes, the charter.</a:t>
            </a:r>
          </a:p>
          <a:p/>
          <a:p>
            <a:r>
              <a:t>Then ask about a specific project, in plain words.</a:t>
            </a:r>
          </a:p>
          <a:p/>
          <a:p>
            <a:r>
              <a:t>Watch the left panel: it finds the two files that matter and ignores the rest.</a:t>
            </a:r>
          </a:p>
          <a:p/>
          <a:p>
            <a:r>
              <a:t>The answer is written from those pages, and every claim carries a citation you can click and check.</a:t>
            </a:r>
          </a:p>
          <a:p/>
          <a:p>
            <a:r>
              <a:t>If the answer is not in the files, it says not found. No inventing.</a:t>
            </a:r>
          </a:p>
          <a:p/>
          <a:p>
            <a:r>
              <a:t>LuminaLM, on the next slide, is exactly this, live in the bank.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And this is grounding live in the bank: LuminaLM, built here.</a:t>
            </a:r>
          </a:p>
          <a:p/>
          <a:p>
            <a:r>
              <a:t>The pain: one project, 157 documents, and the answer always in a file you did not open.</a:t>
            </a:r>
          </a:p>
          <a:p/>
          <a:p>
            <a:r>
              <a:t>Put the project files in once. They become one place you can search and ask.</a:t>
            </a:r>
          </a:p>
          <a:p/>
          <a:p>
            <a:r>
              <a:t>Ask in plain words. Every answer shows the page it came from, exactly like the last slide.</a:t>
            </a:r>
          </a:p>
          <a:p/>
          <a:p>
            <a:r>
              <a:t>If the answer is not in the files, it says so.</a:t>
            </a:r>
          </a:p>
          <a:p/>
          <a:p>
            <a:r>
              <a:t>It also drafts documents for you: Word, Excel, PowerPoint.</a:t>
            </a:r>
          </a:p>
          <a:p/>
          <a:p>
            <a:r>
              <a:t>Think of it as a colleague who read every document and never forgets a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Remember slide twelve: be clear about what you want. The same rule applies when AI runs a whole job, doubled.</a:t>
            </a:r>
          </a:p>
          <a:p/>
          <a:p>
            <a:r>
              <a:t>The tempting way is one jump: recording in, minutes out. But then misheard words and wrong names go straight into the minutes.</a:t>
            </a:r>
          </a:p>
          <a:p/>
          <a:p>
            <a:r>
              <a:t>So we give the agent proper instructions, step by step.</a:t>
            </a:r>
          </a:p>
          <a:p/>
          <a:p>
            <a:r>
              <a:t>Step one: transcript first. The AI writes out who said what.</a:t>
            </a:r>
          </a:p>
          <a:p/>
          <a:p>
            <a:r>
              <a:t>Step two: a human checkpoint. Fix misheard lines, confirm the speaker names.</a:t>
            </a:r>
          </a:p>
          <a:p/>
          <a:p>
            <a:r>
              <a:t>Step three: only then summarize, from the corrected transcript.</a:t>
            </a:r>
          </a:p>
          <a:p/>
          <a:p>
            <a:r>
              <a:t>That is exactly how MoM AI is built. Watch it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that pipeline for real: MoM AI, built here.</a:t>
            </a:r>
          </a:p>
          <a:p/>
          <a:p>
            <a:r>
              <a:t>Drop in the recording. It writes the transcript first: who said what.</a:t>
            </a:r>
          </a:p>
          <a:p/>
          <a:p>
            <a:r>
              <a:t>Name the speakers from a short sample.</a:t>
            </a:r>
          </a:p>
          <a:p/>
          <a:p>
            <a:r>
              <a:t>Fix the transcript where it misheard. Only then does it summarize.</a:t>
            </a:r>
          </a:p>
          <a:p/>
          <a:p>
            <a:r>
              <a:t>Out come the minutes: summary, attendees, actions with a person in charge.</a:t>
            </a:r>
          </a:p>
          <a:p/>
          <a:p>
            <a:r>
              <a:t>English or Bahasa. Export to PDF or Word.</a:t>
            </a:r>
          </a:p>
          <a:p/>
          <a:p>
            <a:r>
              <a:t>Thirty minutes of typing becomes five minutes of checking.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of our most requested projects: OCR, optical character recognition.</a:t>
            </a:r>
          </a:p>
          <a:p/>
          <a:p>
            <a:r>
              <a:t>Point it at a scanned form and it reads the fields into data.</a:t>
            </a:r>
          </a:p>
          <a:p/>
          <a:p>
            <a:r>
              <a:t>The example here: a deposit form. Name, account number, amount.</a:t>
            </a:r>
          </a:p>
          <a:p/>
          <a:p>
            <a:r>
              <a:t>With an LLM behind it, even messy scans and handwriting become structured fields.</a:t>
            </a:r>
          </a:p>
          <a:p/>
          <a:p>
            <a:r>
              <a:t>Fast. But fast is not the same as right. Hold that thought for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But remember: double-check. This is called human in the loop.</a:t>
            </a:r>
          </a:p>
          <a:p/>
          <a:p>
            <a:r>
              <a:t>AI is impressive, but trusting it one hundred percent still carries risk: it can still make things up with confidence.</a:t>
            </a:r>
          </a:p>
          <a:p/>
          <a:p>
            <a:r>
              <a:t>Why it is crucial: in a bank a mistake is expensive. One wrong digit moves real money. One made-up fact can reach a customer or a regulator.</a:t>
            </a:r>
          </a:p>
          <a:p/>
          <a:p>
            <a:r>
              <a:t>So solidify the workflow with a human in the loop: a person verifies and monitors the results, and stays accountable for them.</a:t>
            </a:r>
          </a:p>
          <a:p/>
          <a:p>
            <a:r>
              <a:t>Every project you just saw has this checkpoint after the AI produces its result.</a:t>
            </a:r>
          </a:p>
          <a:p/>
          <a:p>
            <a:r>
              <a:t>Adverse News: the officer reviews the report before it reaches the KYC file.</a:t>
            </a:r>
          </a:p>
          <a:p/>
          <a:p>
            <a:r>
              <a:t>LuminaLM: you open the cited page before you rely on the answer.</a:t>
            </a:r>
          </a:p>
          <a:p/>
          <a:p>
            <a:r>
              <a:t>MoM AI: you fix the transcript and sign off the minutes.</a:t>
            </a:r>
          </a:p>
          <a:p/>
          <a:p>
            <a:r>
              <a:t>OCR: before anything moves, double-check the account number, the name, the amount.</a:t>
            </a:r>
          </a:p>
          <a:p/>
          <a:p>
            <a:r>
              <a:t>AI drafts. A human verifies. Every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Seven things to take home. Ninety seconds.</a:t>
            </a:r>
          </a:p>
          <a:p/>
          <a:p>
            <a:r>
              <a:t>One: an LLM is not magic. It predicts the next token. That explains both the talents and the mistakes.</a:t>
            </a:r>
          </a:p>
          <a:p/>
          <a:p>
            <a:r>
              <a:t>Two: AI is not free. Tokens are the meter. That is why every project we build needs a clear benefit, and every project has one.</a:t>
            </a:r>
          </a:p>
          <a:p/>
          <a:p>
            <a:r>
              <a:t>Three: be clear when you ask. Clear prompt, clear answer. COSTAR helps.</a:t>
            </a:r>
          </a:p>
          <a:p/>
          <a:p>
            <a:r>
              <a:t>Four: on its own, an LLM has limits, like Chat OCBC. Tools and your documents give it real capabilities.</a:t>
            </a:r>
          </a:p>
          <a:p/>
          <a:p>
            <a:r>
              <a:t>Five: keep bank data inside the bank. Use the in-house apps.</a:t>
            </a:r>
          </a:p>
          <a:p/>
          <a:p>
            <a:r>
              <a:t>Six: keep a human in the loop. AI drafts, you verify.</a:t>
            </a:r>
          </a:p>
          <a:p/>
          <a:p>
            <a:r>
              <a:t>And seven, the one that matters most: you will never be good at it unless you try. Open Chat OCBC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Terima kasih. That is the whole story: how an LLM works, and what it already does in this bank.</a:t>
            </a:r>
          </a:p>
          <a:p/>
          <a:p>
            <a:r>
              <a:t>Any questions? The chat is open too.</a:t>
            </a:r>
          </a:p>
          <a:p/>
          <a:p>
            <a:r>
              <a:t>And if you want to explore what AI can do for your team, reach out to me: bryan.bernardi. Always happy to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hyperlink" Target="https://chat-ocbc.wssdx.apps.cml.ocbcnisp.com/" TargetMode="External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microsoft.com/office/2007/relationships/media" Target="../media/media1.mp4"/><Relationship Id="rId4" Type="http://schemas.openxmlformats.org/officeDocument/2006/relationships/video" Target="../media/media1.mp4"/><Relationship Id="rId5" Type="http://schemas.openxmlformats.org/officeDocument/2006/relationships/image" Target="../media/image23.png"/><Relationship Id="rId6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microsoft.com/office/2007/relationships/media" Target="../media/media2.mp4"/><Relationship Id="rId4" Type="http://schemas.openxmlformats.org/officeDocument/2006/relationships/video" Target="../media/media2.mp4"/><Relationship Id="rId5" Type="http://schemas.openxmlformats.org/officeDocument/2006/relationships/image" Target="../media/image26.png"/><Relationship Id="rId6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1" descr="Beyond the Hype What AI Can Do Toda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2" descr="LLM: Large Language Model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3" descr="The best first use case: a chatb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4" descr="OCBC Indonesia: On-premis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5" descr="Slid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6" descr="What is inside an LLM?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7" descr="Autocomplete, on an enormous sca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8" descr="The correction: tokens, not word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9" descr="Tokens are the met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10" descr="It read a lot, up to a da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11" descr="What it does brilliantl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12" descr="Be clear about what you wan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13" descr="Or use a framework: COSTA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14" descr="COSTAR, filled i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15" descr="You will never be good at it unless you tr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Link">
            <a:hlinkClick r:id="rId3"/>
          </p:cNvPr>
          <p:cNvSpPr/>
          <p:nvPr/>
        </p:nvSpPr>
        <p:spPr>
          <a:xfrm>
            <a:off x="6275338" y="3207841"/>
            <a:ext cx="5049887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16" descr="The limits, and their fix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17" descr="From chatbot to cowork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18" descr="Tool calling: give the model hand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19" descr="An agent is a loop, not a ch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20" descr="Adverse News: an agent at wor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21" descr="It has never read your documents. Provide them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22" descr="LuminaLM · 0:5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umina-web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33425" y="1605111"/>
            <a:ext cx="8058150" cy="45339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23" descr="Be clear: one step at a tim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24" descr="MoM AI · 0: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om-ai-web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33425" y="1605111"/>
            <a:ext cx="8058150" cy="45339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25" descr="Most requested: OCR, reading document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26" descr="But remember: double-chec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27" descr="Key takeaway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28" descr="Thank you. Any questions?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Learning at Lunch — Beyond the Hype</dc:title>
  <dc:subject/>
  <dc:creator>Bryan Bernardi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