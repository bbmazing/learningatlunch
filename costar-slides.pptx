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 use a framework. The one I like is COSTAR.</a:t>
            </a:r>
          </a:p>
          <a:p/>
          <a:p>
            <a:r>
              <a:t>Read it down the left edge: Context, Objective, Style, Tone, Audience, Response.</a:t>
            </a:r>
          </a:p>
          <a:p/>
          <a:p>
            <a:r>
              <a:t>Six boxes to fill before you press enter. Skip what you do not need.</a:t>
            </a:r>
          </a:p>
          <a:p/>
          <a:p>
            <a:r>
              <a:t>Next slide: a real one, filled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scenario: generating a report. This is where unwanted extras and hallucination hurt, so we fence them in.</a:t>
            </a:r>
          </a:p>
          <a:p/>
          <a:p>
            <a:r>
              <a:t>The R box does the heavy work: exact columns, only from my notes, N/A for missing data. No adding, no inventing.</a:t>
            </a:r>
          </a:p>
          <a:p/>
          <a:p>
            <a:r>
              <a:t>Right: the table it produced. Five columns as ordered, and look at the last row: N/A instead of a made-up answer.</a:t>
            </a:r>
          </a:p>
          <a:p/>
          <a:p>
            <a:r>
              <a:t>Specify the shape and the rules, and you get the report you wanted. Copy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dge ring"/>
          <p:cNvSpPr/>
          <p:nvPr/>
        </p:nvSpPr>
        <p:spPr>
          <a:xfrm>
            <a:off x="5135880" y="552450"/>
            <a:ext cx="304800" cy="3048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Badge"/>
          <p:cNvSpPr/>
          <p:nvPr/>
        </p:nvSpPr>
        <p:spPr>
          <a:xfrm>
            <a:off x="5173980" y="590550"/>
            <a:ext cx="228600" cy="228600"/>
          </a:xfrm>
          <a:prstGeom prst="ellipse">
            <a:avLst/>
          </a:prstGeom>
          <a:solidFill>
            <a:srgbClr val="7B3FC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Badge sun"/>
          <p:cNvSpPr/>
          <p:nvPr/>
        </p:nvSpPr>
        <p:spPr>
          <a:xfrm>
            <a:off x="5221605" y="685800"/>
            <a:ext cx="133350" cy="85725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Badge horizon"/>
          <p:cNvSpPr/>
          <p:nvPr/>
        </p:nvSpPr>
        <p:spPr>
          <a:xfrm>
            <a:off x="5197792" y="754380"/>
            <a:ext cx="180975" cy="14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Kicker"/>
          <p:cNvSpPr txBox="1"/>
          <p:nvPr/>
        </p:nvSpPr>
        <p:spPr>
          <a:xfrm>
            <a:off x="5507355" y="590550"/>
            <a:ext cx="2476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75" i="0" b="1" spc="136">
                <a:solidFill>
                  <a:srgbClr val="7B3FC0"/>
                </a:solidFill>
                <a:latin typeface="Arial"/>
              </a:rPr>
              <a:t>PART 1 · PROMPTING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723900" y="933450"/>
            <a:ext cx="107442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 b="1" spc="-57">
                <a:solidFill>
                  <a:srgbClr val="1A1A1A"/>
                </a:solidFill>
                <a:latin typeface="Arial"/>
              </a:rPr>
              <a:t>Or use a framework: COSTAR</a:t>
            </a:r>
          </a:p>
        </p:txBody>
      </p:sp>
      <p:sp>
        <p:nvSpPr>
          <p:cNvPr id="8" name="Row C"/>
          <p:cNvSpPr/>
          <p:nvPr/>
        </p:nvSpPr>
        <p:spPr>
          <a:xfrm>
            <a:off x="2381250" y="1966912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9" name="Letter C"/>
          <p:cNvSpPr txBox="1"/>
          <p:nvPr/>
        </p:nvSpPr>
        <p:spPr>
          <a:xfrm>
            <a:off x="2562225" y="2024062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C</a:t>
            </a:r>
          </a:p>
        </p:txBody>
      </p:sp>
      <p:sp>
        <p:nvSpPr>
          <p:cNvPr id="10" name="Word Context"/>
          <p:cNvSpPr txBox="1"/>
          <p:nvPr/>
        </p:nvSpPr>
        <p:spPr>
          <a:xfrm>
            <a:off x="3076575" y="2062162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Context</a:t>
            </a:r>
          </a:p>
        </p:txBody>
      </p:sp>
      <p:sp>
        <p:nvSpPr>
          <p:cNvPr id="11" name="Meaning Context"/>
          <p:cNvSpPr txBox="1"/>
          <p:nvPr/>
        </p:nvSpPr>
        <p:spPr>
          <a:xfrm>
            <a:off x="4295775" y="2062162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the background the model needs to know</a:t>
            </a:r>
          </a:p>
        </p:txBody>
      </p:sp>
      <p:sp>
        <p:nvSpPr>
          <p:cNvPr id="12" name="Row O"/>
          <p:cNvSpPr/>
          <p:nvPr/>
        </p:nvSpPr>
        <p:spPr>
          <a:xfrm>
            <a:off x="2381250" y="2547938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3" name="Letter O"/>
          <p:cNvSpPr txBox="1"/>
          <p:nvPr/>
        </p:nvSpPr>
        <p:spPr>
          <a:xfrm>
            <a:off x="2562225" y="2605088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O</a:t>
            </a:r>
          </a:p>
        </p:txBody>
      </p:sp>
      <p:sp>
        <p:nvSpPr>
          <p:cNvPr id="14" name="Word Objective"/>
          <p:cNvSpPr txBox="1"/>
          <p:nvPr/>
        </p:nvSpPr>
        <p:spPr>
          <a:xfrm>
            <a:off x="3076575" y="2643188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Objective</a:t>
            </a:r>
          </a:p>
        </p:txBody>
      </p:sp>
      <p:sp>
        <p:nvSpPr>
          <p:cNvPr id="15" name="Meaning Objective"/>
          <p:cNvSpPr txBox="1"/>
          <p:nvPr/>
        </p:nvSpPr>
        <p:spPr>
          <a:xfrm>
            <a:off x="4295775" y="2643188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the task, stated exactly</a:t>
            </a:r>
          </a:p>
        </p:txBody>
      </p:sp>
      <p:sp>
        <p:nvSpPr>
          <p:cNvPr id="16" name="Row S"/>
          <p:cNvSpPr/>
          <p:nvPr/>
        </p:nvSpPr>
        <p:spPr>
          <a:xfrm>
            <a:off x="2381250" y="3128962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7" name="Letter S"/>
          <p:cNvSpPr txBox="1"/>
          <p:nvPr/>
        </p:nvSpPr>
        <p:spPr>
          <a:xfrm>
            <a:off x="2562225" y="3186112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S</a:t>
            </a:r>
          </a:p>
        </p:txBody>
      </p:sp>
      <p:sp>
        <p:nvSpPr>
          <p:cNvPr id="18" name="Word Style"/>
          <p:cNvSpPr txBox="1"/>
          <p:nvPr/>
        </p:nvSpPr>
        <p:spPr>
          <a:xfrm>
            <a:off x="3076575" y="3224212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Style</a:t>
            </a:r>
          </a:p>
        </p:txBody>
      </p:sp>
      <p:sp>
        <p:nvSpPr>
          <p:cNvPr id="19" name="Meaning Style"/>
          <p:cNvSpPr txBox="1"/>
          <p:nvPr/>
        </p:nvSpPr>
        <p:spPr>
          <a:xfrm>
            <a:off x="4295775" y="3224212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how it should be written</a:t>
            </a:r>
          </a:p>
        </p:txBody>
      </p:sp>
      <p:sp>
        <p:nvSpPr>
          <p:cNvPr id="20" name="Row T"/>
          <p:cNvSpPr/>
          <p:nvPr/>
        </p:nvSpPr>
        <p:spPr>
          <a:xfrm>
            <a:off x="2381250" y="3709988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1" name="Letter T"/>
          <p:cNvSpPr txBox="1"/>
          <p:nvPr/>
        </p:nvSpPr>
        <p:spPr>
          <a:xfrm>
            <a:off x="2562225" y="3767138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T</a:t>
            </a:r>
          </a:p>
        </p:txBody>
      </p:sp>
      <p:sp>
        <p:nvSpPr>
          <p:cNvPr id="22" name="Word Tone"/>
          <p:cNvSpPr txBox="1"/>
          <p:nvPr/>
        </p:nvSpPr>
        <p:spPr>
          <a:xfrm>
            <a:off x="3076575" y="3805238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Tone</a:t>
            </a:r>
          </a:p>
        </p:txBody>
      </p:sp>
      <p:sp>
        <p:nvSpPr>
          <p:cNvPr id="23" name="Meaning Tone"/>
          <p:cNvSpPr txBox="1"/>
          <p:nvPr/>
        </p:nvSpPr>
        <p:spPr>
          <a:xfrm>
            <a:off x="4295775" y="3805238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how it should feel to the reader</a:t>
            </a:r>
          </a:p>
        </p:txBody>
      </p:sp>
      <p:sp>
        <p:nvSpPr>
          <p:cNvPr id="24" name="Row A"/>
          <p:cNvSpPr/>
          <p:nvPr/>
        </p:nvSpPr>
        <p:spPr>
          <a:xfrm>
            <a:off x="2381250" y="4291012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5" name="Letter A"/>
          <p:cNvSpPr txBox="1"/>
          <p:nvPr/>
        </p:nvSpPr>
        <p:spPr>
          <a:xfrm>
            <a:off x="2562225" y="4348162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A</a:t>
            </a:r>
          </a:p>
        </p:txBody>
      </p:sp>
      <p:sp>
        <p:nvSpPr>
          <p:cNvPr id="26" name="Word Audience"/>
          <p:cNvSpPr txBox="1"/>
          <p:nvPr/>
        </p:nvSpPr>
        <p:spPr>
          <a:xfrm>
            <a:off x="3076575" y="4386262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Audience</a:t>
            </a:r>
          </a:p>
        </p:txBody>
      </p:sp>
      <p:sp>
        <p:nvSpPr>
          <p:cNvPr id="27" name="Meaning Audience"/>
          <p:cNvSpPr txBox="1"/>
          <p:nvPr/>
        </p:nvSpPr>
        <p:spPr>
          <a:xfrm>
            <a:off x="4295775" y="4386262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who will read it</a:t>
            </a:r>
          </a:p>
        </p:txBody>
      </p:sp>
      <p:sp>
        <p:nvSpPr>
          <p:cNvPr id="28" name="Row R"/>
          <p:cNvSpPr/>
          <p:nvPr/>
        </p:nvSpPr>
        <p:spPr>
          <a:xfrm>
            <a:off x="2381250" y="4872038"/>
            <a:ext cx="7429500" cy="4953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133350" dist="47625" dir="5400000" algn="t" rotWithShape="0">
              <a:srgbClr val="000000">
                <a:alpha val="7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9" name="Letter R"/>
          <p:cNvSpPr txBox="1"/>
          <p:nvPr/>
        </p:nvSpPr>
        <p:spPr>
          <a:xfrm>
            <a:off x="2562225" y="4929188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50" i="0" b="1">
                <a:solidFill>
                  <a:srgbClr val="7B3FC0"/>
                </a:solidFill>
                <a:latin typeface="Arial"/>
              </a:rPr>
              <a:t>R</a:t>
            </a:r>
          </a:p>
        </p:txBody>
      </p:sp>
      <p:sp>
        <p:nvSpPr>
          <p:cNvPr id="30" name="Word Response"/>
          <p:cNvSpPr txBox="1"/>
          <p:nvPr/>
        </p:nvSpPr>
        <p:spPr>
          <a:xfrm>
            <a:off x="3076575" y="4967288"/>
            <a:ext cx="1143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i="0" b="1">
                <a:solidFill>
                  <a:srgbClr val="1A1A1A"/>
                </a:solidFill>
                <a:latin typeface="Arial"/>
              </a:rPr>
              <a:t>Response</a:t>
            </a:r>
          </a:p>
        </p:txBody>
      </p:sp>
      <p:sp>
        <p:nvSpPr>
          <p:cNvPr id="31" name="Meaning Response"/>
          <p:cNvSpPr txBox="1"/>
          <p:nvPr/>
        </p:nvSpPr>
        <p:spPr>
          <a:xfrm>
            <a:off x="4295775" y="4967288"/>
            <a:ext cx="53340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12" i="0" b="0">
                <a:solidFill>
                  <a:srgbClr val="6B7280"/>
                </a:solidFill>
                <a:latin typeface="Arial"/>
              </a:rPr>
              <a:t>format, length and language of the answer</a:t>
            </a:r>
          </a:p>
        </p:txBody>
      </p:sp>
      <p:sp>
        <p:nvSpPr>
          <p:cNvPr id="32" name="Caption"/>
          <p:cNvSpPr txBox="1"/>
          <p:nvPr/>
        </p:nvSpPr>
        <p:spPr>
          <a:xfrm>
            <a:off x="2381250" y="5581650"/>
            <a:ext cx="7429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i="1" b="0">
                <a:solidFill>
                  <a:srgbClr val="6B7280"/>
                </a:solidFill>
                <a:latin typeface="Arial"/>
              </a:rPr>
              <a:t>Six boxes to fill before you press enter. Skip what you do not need.</a:t>
            </a:r>
          </a:p>
        </p:txBody>
      </p:sp>
      <p:pic>
        <p:nvPicPr>
          <p:cNvPr id="33" name="OCBC icon" descr="ocbc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6438900"/>
            <a:ext cx="171450" cy="171450"/>
          </a:xfrm>
          <a:prstGeom prst="rect">
            <a:avLst/>
          </a:prstGeom>
        </p:spPr>
      </p:pic>
      <p:sp>
        <p:nvSpPr>
          <p:cNvPr id="34" name="Footer"/>
          <p:cNvSpPr txBox="1"/>
          <p:nvPr/>
        </p:nvSpPr>
        <p:spPr>
          <a:xfrm>
            <a:off x="981075" y="6438900"/>
            <a:ext cx="1905000" cy="171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i="0" b="1" spc="18">
                <a:solidFill>
                  <a:srgbClr val="6B7280"/>
                </a:solidFill>
                <a:latin typeface="Arial"/>
              </a:rPr>
              <a:t>Learning at Lunch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dge ring"/>
          <p:cNvSpPr/>
          <p:nvPr/>
        </p:nvSpPr>
        <p:spPr>
          <a:xfrm>
            <a:off x="685800" y="552450"/>
            <a:ext cx="304800" cy="3048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Badge"/>
          <p:cNvSpPr/>
          <p:nvPr/>
        </p:nvSpPr>
        <p:spPr>
          <a:xfrm>
            <a:off x="723900" y="590550"/>
            <a:ext cx="228600" cy="228600"/>
          </a:xfrm>
          <a:prstGeom prst="ellipse">
            <a:avLst/>
          </a:prstGeom>
          <a:solidFill>
            <a:srgbClr val="7B3FC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Badge sun"/>
          <p:cNvSpPr/>
          <p:nvPr/>
        </p:nvSpPr>
        <p:spPr>
          <a:xfrm>
            <a:off x="771525" y="685800"/>
            <a:ext cx="133350" cy="85725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Badge horizon"/>
          <p:cNvSpPr/>
          <p:nvPr/>
        </p:nvSpPr>
        <p:spPr>
          <a:xfrm>
            <a:off x="747712" y="754380"/>
            <a:ext cx="180975" cy="14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Kicker"/>
          <p:cNvSpPr txBox="1"/>
          <p:nvPr/>
        </p:nvSpPr>
        <p:spPr>
          <a:xfrm>
            <a:off x="1057275" y="590550"/>
            <a:ext cx="24765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75" i="0" b="1" spc="136">
                <a:solidFill>
                  <a:srgbClr val="7B3FC0"/>
                </a:solidFill>
                <a:latin typeface="Arial"/>
              </a:rPr>
              <a:t>PART 1 · PROMPTING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723900" y="933450"/>
            <a:ext cx="8572500" cy="476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50" i="0" b="1" spc="-57">
                <a:solidFill>
                  <a:srgbClr val="1A1A1A"/>
                </a:solidFill>
                <a:latin typeface="Arial"/>
              </a:rPr>
              <a:t>COSTAR, filled in</a:t>
            </a:r>
          </a:p>
        </p:txBody>
      </p:sp>
      <p:sp>
        <p:nvSpPr>
          <p:cNvPr id="8" name="Prompt card"/>
          <p:cNvSpPr/>
          <p:nvPr/>
        </p:nvSpPr>
        <p:spPr>
          <a:xfrm>
            <a:off x="723900" y="2069782"/>
            <a:ext cx="4455795" cy="3605212"/>
          </a:xfrm>
          <a:prstGeom prst="roundRect">
            <a:avLst>
              <a:gd name="adj" fmla="val 4227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247650" dist="95250" dir="5400000" algn="t" rotWithShape="0">
              <a:srgbClr val="000000">
                <a:alpha val="9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9" name="Window dot 1"/>
          <p:cNvSpPr/>
          <p:nvPr/>
        </p:nvSpPr>
        <p:spPr>
          <a:xfrm>
            <a:off x="962025" y="2288858"/>
            <a:ext cx="95250" cy="95250"/>
          </a:xfrm>
          <a:prstGeom prst="ellipse">
            <a:avLst/>
          </a:prstGeom>
          <a:solidFill>
            <a:srgbClr val="7B3FC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Window dot 2"/>
          <p:cNvSpPr/>
          <p:nvPr/>
        </p:nvSpPr>
        <p:spPr>
          <a:xfrm>
            <a:off x="1123950" y="2288858"/>
            <a:ext cx="95250" cy="95250"/>
          </a:xfrm>
          <a:prstGeom prst="ellipse">
            <a:avLst/>
          </a:prstGeom>
          <a:solidFill>
            <a:srgbClr val="E6E8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Window dot 3"/>
          <p:cNvSpPr/>
          <p:nvPr/>
        </p:nvSpPr>
        <p:spPr>
          <a:xfrm>
            <a:off x="1285875" y="2288858"/>
            <a:ext cx="95250" cy="95250"/>
          </a:xfrm>
          <a:prstGeom prst="ellipse">
            <a:avLst/>
          </a:prstGeom>
          <a:solidFill>
            <a:srgbClr val="E6E8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Prompt label"/>
          <p:cNvSpPr txBox="1"/>
          <p:nvPr/>
        </p:nvSpPr>
        <p:spPr>
          <a:xfrm>
            <a:off x="1504950" y="2250758"/>
            <a:ext cx="2381250" cy="171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25" i="0" b="0">
                <a:solidFill>
                  <a:srgbClr val="9AA1AC"/>
                </a:solidFill>
                <a:latin typeface="Courier New"/>
              </a:rPr>
              <a:t>prompt · costar · bahasa</a:t>
            </a:r>
          </a:p>
        </p:txBody>
      </p:sp>
      <p:sp>
        <p:nvSpPr>
          <p:cNvPr id="13" name="Tag C disc"/>
          <p:cNvSpPr/>
          <p:nvPr/>
        </p:nvSpPr>
        <p:spPr>
          <a:xfrm>
            <a:off x="962025" y="2607945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ag C"/>
          <p:cNvSpPr txBox="1"/>
          <p:nvPr/>
        </p:nvSpPr>
        <p:spPr>
          <a:xfrm>
            <a:off x="962025" y="2607945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C</a:t>
            </a:r>
          </a:p>
        </p:txBody>
      </p:sp>
      <p:sp>
        <p:nvSpPr>
          <p:cNvPr id="15" name="Prompt C"/>
          <p:cNvSpPr txBox="1"/>
          <p:nvPr/>
        </p:nvSpPr>
        <p:spPr>
          <a:xfrm>
            <a:off x="1304925" y="2598420"/>
            <a:ext cx="3714750" cy="433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0">
                <a:solidFill>
                  <a:srgbClr val="1F2937"/>
                </a:solidFill>
                <a:latin typeface="Arial"/>
              </a:rPr>
              <a:t>Saya team leader operasional cabang. Di bawah saya tempel </a:t>
            </a:r>
            <a:r>
              <a:rPr sz="1087" i="0" b="1">
                <a:solidFill>
                  <a:srgbClr val="1A1A1A"/>
                </a:solidFill>
                <a:latin typeface="Arial"/>
              </a:rPr>
              <a:t>catatan komplain nasabah</a:t>
            </a:r>
            <a:r>
              <a:rPr sz="1087" i="0" b="0">
                <a:solidFill>
                  <a:srgbClr val="1F2937"/>
                </a:solidFill>
                <a:latin typeface="Arial"/>
              </a:rPr>
              <a:t> minggu ini.</a:t>
            </a:r>
          </a:p>
        </p:txBody>
      </p:sp>
      <p:sp>
        <p:nvSpPr>
          <p:cNvPr id="16" name="Tag O disc"/>
          <p:cNvSpPr/>
          <p:nvPr/>
        </p:nvSpPr>
        <p:spPr>
          <a:xfrm>
            <a:off x="962025" y="3146108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ag O"/>
          <p:cNvSpPr txBox="1"/>
          <p:nvPr/>
        </p:nvSpPr>
        <p:spPr>
          <a:xfrm>
            <a:off x="962025" y="3146108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O</a:t>
            </a:r>
          </a:p>
        </p:txBody>
      </p:sp>
      <p:sp>
        <p:nvSpPr>
          <p:cNvPr id="18" name="Prompt O"/>
          <p:cNvSpPr txBox="1"/>
          <p:nvPr/>
        </p:nvSpPr>
        <p:spPr>
          <a:xfrm>
            <a:off x="1304925" y="3136582"/>
            <a:ext cx="3714750" cy="226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0">
                <a:solidFill>
                  <a:srgbClr val="1F2937"/>
                </a:solidFill>
                <a:latin typeface="Arial"/>
              </a:rPr>
              <a:t>Buat </a:t>
            </a:r>
            <a:r>
              <a:rPr sz="1087" i="0" b="1">
                <a:solidFill>
                  <a:srgbClr val="1A1A1A"/>
                </a:solidFill>
                <a:latin typeface="Arial"/>
              </a:rPr>
              <a:t>laporan rekap komplain</a:t>
            </a:r>
            <a:r>
              <a:rPr sz="1087" i="0" b="0">
                <a:solidFill>
                  <a:srgbClr val="1F2937"/>
                </a:solidFill>
                <a:latin typeface="Arial"/>
              </a:rPr>
              <a:t> berbentuk tabel.</a:t>
            </a:r>
          </a:p>
        </p:txBody>
      </p:sp>
      <p:sp>
        <p:nvSpPr>
          <p:cNvPr id="19" name="Tag S disc"/>
          <p:cNvSpPr/>
          <p:nvPr/>
        </p:nvSpPr>
        <p:spPr>
          <a:xfrm>
            <a:off x="962025" y="3508058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ag S"/>
          <p:cNvSpPr txBox="1"/>
          <p:nvPr/>
        </p:nvSpPr>
        <p:spPr>
          <a:xfrm>
            <a:off x="962025" y="3508058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S</a:t>
            </a:r>
          </a:p>
        </p:txBody>
      </p:sp>
      <p:sp>
        <p:nvSpPr>
          <p:cNvPr id="21" name="Prompt S"/>
          <p:cNvSpPr txBox="1"/>
          <p:nvPr/>
        </p:nvSpPr>
        <p:spPr>
          <a:xfrm>
            <a:off x="1304925" y="3498532"/>
            <a:ext cx="3714750" cy="226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1">
                <a:solidFill>
                  <a:srgbClr val="1A1A1A"/>
                </a:solidFill>
                <a:latin typeface="Arial"/>
              </a:rPr>
              <a:t>Ringkas dan rapi</a:t>
            </a:r>
            <a:r>
              <a:rPr sz="1087" i="0" b="0">
                <a:solidFill>
                  <a:srgbClr val="1F2937"/>
                </a:solidFill>
                <a:latin typeface="Arial"/>
              </a:rPr>
              <a:t>, siap tempel ke email.</a:t>
            </a:r>
          </a:p>
        </p:txBody>
      </p:sp>
      <p:sp>
        <p:nvSpPr>
          <p:cNvPr id="22" name="Tag T disc"/>
          <p:cNvSpPr/>
          <p:nvPr/>
        </p:nvSpPr>
        <p:spPr>
          <a:xfrm>
            <a:off x="962025" y="3870008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ag T"/>
          <p:cNvSpPr txBox="1"/>
          <p:nvPr/>
        </p:nvSpPr>
        <p:spPr>
          <a:xfrm>
            <a:off x="962025" y="3870008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T</a:t>
            </a:r>
          </a:p>
        </p:txBody>
      </p:sp>
      <p:sp>
        <p:nvSpPr>
          <p:cNvPr id="24" name="Prompt T"/>
          <p:cNvSpPr txBox="1"/>
          <p:nvPr/>
        </p:nvSpPr>
        <p:spPr>
          <a:xfrm>
            <a:off x="1304925" y="3860482"/>
            <a:ext cx="3714750" cy="226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1">
                <a:solidFill>
                  <a:srgbClr val="1A1A1A"/>
                </a:solidFill>
                <a:latin typeface="Arial"/>
              </a:rPr>
              <a:t>Netral dan faktual.</a:t>
            </a:r>
          </a:p>
        </p:txBody>
      </p:sp>
      <p:sp>
        <p:nvSpPr>
          <p:cNvPr id="25" name="Tag A disc"/>
          <p:cNvSpPr/>
          <p:nvPr/>
        </p:nvSpPr>
        <p:spPr>
          <a:xfrm>
            <a:off x="962025" y="4231958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ag A"/>
          <p:cNvSpPr txBox="1"/>
          <p:nvPr/>
        </p:nvSpPr>
        <p:spPr>
          <a:xfrm>
            <a:off x="962025" y="4231958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A</a:t>
            </a:r>
          </a:p>
        </p:txBody>
      </p:sp>
      <p:sp>
        <p:nvSpPr>
          <p:cNvPr id="27" name="Prompt A"/>
          <p:cNvSpPr txBox="1"/>
          <p:nvPr/>
        </p:nvSpPr>
        <p:spPr>
          <a:xfrm>
            <a:off x="1304925" y="4222432"/>
            <a:ext cx="3714750" cy="226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0">
                <a:solidFill>
                  <a:srgbClr val="1F2937"/>
                </a:solidFill>
                <a:latin typeface="Arial"/>
              </a:rPr>
              <a:t>Kepala cabang, membaca dalam </a:t>
            </a:r>
            <a:r>
              <a:rPr sz="1087" i="0" b="1">
                <a:solidFill>
                  <a:srgbClr val="1A1A1A"/>
                </a:solidFill>
                <a:latin typeface="Arial"/>
              </a:rPr>
              <a:t>1 menit</a:t>
            </a:r>
            <a:r>
              <a:rPr sz="1087" i="0" b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28" name="Tag R disc"/>
          <p:cNvSpPr/>
          <p:nvPr/>
        </p:nvSpPr>
        <p:spPr>
          <a:xfrm>
            <a:off x="962025" y="4593908"/>
            <a:ext cx="228600" cy="228600"/>
          </a:xfrm>
          <a:prstGeom prst="ellipse">
            <a:avLst/>
          </a:prstGeom>
          <a:solidFill>
            <a:srgbClr val="F3EC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ag R"/>
          <p:cNvSpPr txBox="1"/>
          <p:nvPr/>
        </p:nvSpPr>
        <p:spPr>
          <a:xfrm>
            <a:off x="962025" y="4593908"/>
            <a:ext cx="2286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i="0" b="1">
                <a:solidFill>
                  <a:srgbClr val="7B3FC0"/>
                </a:solidFill>
                <a:latin typeface="Arial"/>
              </a:rPr>
              <a:t>R</a:t>
            </a:r>
          </a:p>
        </p:txBody>
      </p:sp>
      <p:sp>
        <p:nvSpPr>
          <p:cNvPr id="30" name="Prompt R"/>
          <p:cNvSpPr txBox="1"/>
          <p:nvPr/>
        </p:nvSpPr>
        <p:spPr>
          <a:xfrm>
            <a:off x="1304925" y="4584382"/>
            <a:ext cx="3714750" cy="84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31"/>
              </a:lnSpc>
            </a:pPr>
            <a:r>
              <a:rPr sz="1087" i="0" b="0">
                <a:solidFill>
                  <a:srgbClr val="1F2937"/>
                </a:solidFill>
                <a:latin typeface="Arial"/>
              </a:rPr>
              <a:t>Kolom persis: </a:t>
            </a:r>
            <a:r>
              <a:rPr sz="1087" i="0" b="1">
                <a:solidFill>
                  <a:srgbClr val="1A1A1A"/>
                </a:solidFill>
                <a:latin typeface="Arial"/>
              </a:rPr>
              <a:t>Tanggal, Kanal, Jenis Komplain, Status, Tindak Lanjut</a:t>
            </a:r>
            <a:r>
              <a:rPr sz="1087" i="0" b="0">
                <a:solidFill>
                  <a:srgbClr val="1F2937"/>
                </a:solidFill>
                <a:latin typeface="Arial"/>
              </a:rPr>
              <a:t>. Hanya dari catatan saya; data yang tidak ada tulis </a:t>
            </a:r>
            <a:r>
              <a:rPr sz="1087" i="0" b="1">
                <a:solidFill>
                  <a:srgbClr val="1A1A1A"/>
                </a:solidFill>
                <a:latin typeface="Arial"/>
              </a:rPr>
              <a:t>N/A</a:t>
            </a:r>
            <a:r>
              <a:rPr sz="1087" i="0" b="0">
                <a:solidFill>
                  <a:srgbClr val="1F2937"/>
                </a:solidFill>
                <a:latin typeface="Arial"/>
              </a:rPr>
              <a:t>. Jangan menambah atau mengarang.</a:t>
            </a:r>
          </a:p>
        </p:txBody>
      </p:sp>
      <p:sp>
        <p:nvSpPr>
          <p:cNvPr id="31" name="Result pill"/>
          <p:cNvSpPr/>
          <p:nvPr/>
        </p:nvSpPr>
        <p:spPr>
          <a:xfrm>
            <a:off x="5560695" y="2771775"/>
            <a:ext cx="1076325" cy="247650"/>
          </a:xfrm>
          <a:prstGeom prst="roundRect">
            <a:avLst>
              <a:gd name="adj" fmla="val 50000"/>
            </a:avLst>
          </a:prstGeom>
          <a:solidFill>
            <a:srgbClr val="E9F7EE"/>
          </a:solidFill>
          <a:ln w="9525">
            <a:solidFill>
              <a:srgbClr val="CDEBD8"/>
            </a:solidFill>
          </a:ln>
        </p:spPr>
        <p:txBody>
          <a:bodyPr rtlCol="0" anchor="ctr"/>
          <a:lstStyle/>
          <a:p/>
        </p:txBody>
      </p:sp>
      <p:sp>
        <p:nvSpPr>
          <p:cNvPr id="32" name="Result label"/>
          <p:cNvSpPr txBox="1"/>
          <p:nvPr/>
        </p:nvSpPr>
        <p:spPr>
          <a:xfrm>
            <a:off x="5560695" y="2771775"/>
            <a:ext cx="1076325" cy="247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87" i="0" b="1" spc="70">
                <a:solidFill>
                  <a:srgbClr val="14663F"/>
                </a:solidFill>
                <a:latin typeface="Courier New"/>
              </a:rPr>
              <a:t>✓ THE RESULT</a:t>
            </a:r>
          </a:p>
        </p:txBody>
      </p:sp>
      <p:sp>
        <p:nvSpPr>
          <p:cNvPr id="33" name="Report card"/>
          <p:cNvSpPr/>
          <p:nvPr/>
        </p:nvSpPr>
        <p:spPr>
          <a:xfrm>
            <a:off x="5560695" y="3105150"/>
            <a:ext cx="4476750" cy="1514475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9525">
            <a:solidFill>
              <a:srgbClr val="E4E7EB"/>
            </a:solidFill>
          </a:ln>
          <a:effectLst>
            <a:outerShdw blurRad="247650" dist="95250" dir="5400000" algn="t" rotWithShape="0">
              <a:srgbClr val="000000">
                <a:alpha val="11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4" name="Report header"/>
          <p:cNvSpPr/>
          <p:nvPr/>
        </p:nvSpPr>
        <p:spPr>
          <a:xfrm>
            <a:off x="5570220" y="3114675"/>
            <a:ext cx="4457700" cy="361950"/>
          </a:xfrm>
          <a:prstGeom prst="round2SameRect">
            <a:avLst>
              <a:gd name="adj1" fmla="val 34210"/>
              <a:gd name="adj2" fmla="val 0"/>
            </a:avLst>
          </a:prstGeom>
          <a:solidFill>
            <a:srgbClr val="F5F5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Report header rule"/>
          <p:cNvSpPr/>
          <p:nvPr/>
        </p:nvSpPr>
        <p:spPr>
          <a:xfrm>
            <a:off x="5570220" y="3471862"/>
            <a:ext cx="4457700" cy="7144"/>
          </a:xfrm>
          <a:prstGeom prst="rect">
            <a:avLst/>
          </a:prstGeom>
          <a:solidFill>
            <a:srgbClr val="E4E7E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Report title"/>
          <p:cNvSpPr txBox="1"/>
          <p:nvPr/>
        </p:nvSpPr>
        <p:spPr>
          <a:xfrm>
            <a:off x="5713095" y="3114675"/>
            <a:ext cx="4191000" cy="361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37" i="0" b="1">
                <a:solidFill>
                  <a:srgbClr val="1A1A1A"/>
                </a:solidFill>
                <a:latin typeface="Arial"/>
              </a:rPr>
              <a:t>Rekap Komplain Nasabah · Minggu ke-2 Agustus</a:t>
            </a:r>
          </a:p>
        </p:txBody>
      </p:sp>
      <p:graphicFrame>
        <p:nvGraphicFramePr>
          <p:cNvPr id="37" name="Report table"/>
          <p:cNvGraphicFramePr>
            <a:graphicFrameLocks noGrp="1"/>
          </p:cNvGraphicFramePr>
          <p:nvPr/>
        </p:nvGraphicFramePr>
        <p:xfrm>
          <a:off x="5570220" y="3479006"/>
          <a:ext cx="4457699" cy="1133474"/>
        </p:xfrm>
        <a:graphic>
          <a:graphicData uri="http://schemas.openxmlformats.org/drawingml/2006/table">
            <a:tbl>
              <a:tblPr firstRow="1"/>
              <a:tblGrid>
                <a:gridCol w="561975"/>
                <a:gridCol w="929640"/>
                <a:gridCol w="1098232"/>
                <a:gridCol w="525780"/>
                <a:gridCol w="1342072"/>
              </a:tblGrid>
              <a:tr h="252412">
                <a:tc>
                  <a:txBody>
                    <a:bodyPr/>
                    <a:lstStyle/>
                    <a:p>
                      <a:r>
                        <a:rPr sz="675" b="1" spc="33">
                          <a:solidFill>
                            <a:srgbClr val="7B3FC0"/>
                          </a:solidFill>
                          <a:latin typeface="Courier New"/>
                        </a:rPr>
                        <a:t>TANGGAL</a:t>
                      </a:r>
                    </a:p>
                  </a:txBody>
                  <a:tcPr marL="85725" marR="85725" marT="66675" marB="6667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D2F5"/>
                      </a:solidFill>
                    </a:lnB>
                    <a:solidFill>
                      <a:srgbClr val="F3E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75" b="1" spc="33">
                          <a:solidFill>
                            <a:srgbClr val="7B3FC0"/>
                          </a:solidFill>
                          <a:latin typeface="Courier New"/>
                        </a:rPr>
                        <a:t>KANAL</a:t>
                      </a:r>
                    </a:p>
                  </a:txBody>
                  <a:tcPr marL="85725" marR="85725" marT="66675" marB="6667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D2F5"/>
                      </a:solidFill>
                    </a:lnB>
                    <a:solidFill>
                      <a:srgbClr val="F3E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75" b="1" spc="33">
                          <a:solidFill>
                            <a:srgbClr val="7B3FC0"/>
                          </a:solidFill>
                          <a:latin typeface="Courier New"/>
                        </a:rPr>
                        <a:t>JENIS KOMPLAIN</a:t>
                      </a:r>
                    </a:p>
                  </a:txBody>
                  <a:tcPr marL="85725" marR="85725" marT="66675" marB="6667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D2F5"/>
                      </a:solidFill>
                    </a:lnB>
                    <a:solidFill>
                      <a:srgbClr val="F3E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75" b="1" spc="33">
                          <a:solidFill>
                            <a:srgbClr val="7B3FC0"/>
                          </a:solidFill>
                          <a:latin typeface="Courier New"/>
                        </a:rPr>
                        <a:t>STATUS</a:t>
                      </a:r>
                    </a:p>
                  </a:txBody>
                  <a:tcPr marL="85725" marR="85725" marT="66675" marB="6667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D2F5"/>
                      </a:solidFill>
                    </a:lnB>
                    <a:solidFill>
                      <a:srgbClr val="F3E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75" b="1" spc="33">
                          <a:solidFill>
                            <a:srgbClr val="7B3FC0"/>
                          </a:solidFill>
                          <a:latin typeface="Courier New"/>
                        </a:rPr>
                        <a:t>TINDAK LANJUT</a:t>
                      </a:r>
                    </a:p>
                  </a:txBody>
                  <a:tcPr marL="85725" marR="85725" marT="66675" marB="66675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D2F5"/>
                      </a:solidFill>
                    </a:lnB>
                    <a:solidFill>
                      <a:srgbClr val="F3ECFB"/>
                    </a:solidFill>
                  </a:tcPr>
                </a:tc>
              </a:tr>
              <a:tr h="295275"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02/08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Mobile banking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Transfer gagal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Selesai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Dana dikembalikan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</a:tr>
              <a:tr h="295275"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04/08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Cabang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Antrean lama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Proses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Tambah teller jam sibuk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4E7EB"/>
                      </a:solidFill>
                    </a:lnB>
                    <a:noFill/>
                  </a:tcPr>
                </a:tc>
              </a:tr>
              <a:tr h="290512"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05/08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Call center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Kartu tertelan ATM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0">
                          <a:solidFill>
                            <a:srgbClr val="1F2937"/>
                          </a:solidFill>
                          <a:latin typeface="Arial"/>
                        </a:rPr>
                        <a:t>Selesai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25" b="1">
                          <a:solidFill>
                            <a:srgbClr val="14663F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85725" marR="85725" marT="76200" marB="762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38" name="Note pill"/>
          <p:cNvSpPr/>
          <p:nvPr/>
        </p:nvSpPr>
        <p:spPr>
          <a:xfrm>
            <a:off x="5560695" y="4714875"/>
            <a:ext cx="2401252" cy="257175"/>
          </a:xfrm>
          <a:prstGeom prst="roundRect">
            <a:avLst>
              <a:gd name="adj" fmla="val 50000"/>
            </a:avLst>
          </a:prstGeom>
          <a:solidFill>
            <a:srgbClr val="E9F7EE"/>
          </a:solidFill>
          <a:ln w="9525">
            <a:solidFill>
              <a:srgbClr val="CDEBD8"/>
            </a:solidFill>
          </a:ln>
        </p:spPr>
        <p:txBody>
          <a:bodyPr rtlCol="0" anchor="ctr"/>
          <a:lstStyle/>
          <a:p/>
        </p:txBody>
      </p:sp>
      <p:sp>
        <p:nvSpPr>
          <p:cNvPr id="39" name="Note"/>
          <p:cNvSpPr txBox="1"/>
          <p:nvPr/>
        </p:nvSpPr>
        <p:spPr>
          <a:xfrm>
            <a:off x="5560695" y="4714875"/>
            <a:ext cx="2401252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62" i="0" b="1">
                <a:solidFill>
                  <a:srgbClr val="14663F"/>
                </a:solidFill>
                <a:latin typeface="Arial"/>
              </a:rPr>
              <a:t>✓ data kosong ditulis N/A, tidak dikarang</a:t>
            </a:r>
          </a:p>
        </p:txBody>
      </p:sp>
      <p:pic>
        <p:nvPicPr>
          <p:cNvPr id="40" name="OCBC icon" descr="ocbc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6438900"/>
            <a:ext cx="171450" cy="171450"/>
          </a:xfrm>
          <a:prstGeom prst="rect">
            <a:avLst/>
          </a:prstGeom>
        </p:spPr>
      </p:pic>
      <p:sp>
        <p:nvSpPr>
          <p:cNvPr id="41" name="Footer"/>
          <p:cNvSpPr txBox="1"/>
          <p:nvPr/>
        </p:nvSpPr>
        <p:spPr>
          <a:xfrm>
            <a:off x="981075" y="6438900"/>
            <a:ext cx="1905000" cy="1714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i="0" b="1" spc="18">
                <a:solidFill>
                  <a:srgbClr val="6B7280"/>
                </a:solidFill>
                <a:latin typeface="Arial"/>
              </a:rPr>
              <a:t>Learning at Lunch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COSTAR prompting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