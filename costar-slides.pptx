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 use a framework. The one I like is COSTAR.</a:t>
            </a:r>
          </a:p>
          <a:p/>
          <a:p>
            <a:r>
              <a:t>Read it down the left edge: Context, Objective, Style, Tone, Audience, Response.</a:t>
            </a:r>
          </a:p>
          <a:p/>
          <a:p>
            <a:r>
              <a:t>Six boxes to fill before you press enter. Skip what you do not need.</a:t>
            </a:r>
          </a:p>
          <a:p/>
          <a:p>
            <a:r>
              <a:t>Next slide: a real one, filled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scenario: generating a report. This is where unwanted extras and hallucination hurt, so we fence them in.</a:t>
            </a:r>
          </a:p>
          <a:p/>
          <a:p>
            <a:r>
              <a:t>The R box does the heavy work: exact columns, only from my notes, N/A for missing data. No adding, no inventing.</a:t>
            </a:r>
          </a:p>
          <a:p/>
          <a:p>
            <a:r>
              <a:t>Right: the table it produced. Five columns as ordered, and look at the last row: N/A instead of a made-up answer.</a:t>
            </a:r>
          </a:p>
          <a:p/>
          <a:p>
            <a:r>
              <a:t>Specify the shape and the rules, and you get the report you wanted. Copy this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Nav Home"/>
          <p:cNvSpPr txBox="1"/>
          <p:nvPr/>
        </p:nvSpPr>
        <p:spPr>
          <a:xfrm>
            <a:off x="4160520" y="502920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Arial"/>
              </a:rPr>
              <a:t>Home</a:t>
            </a:r>
          </a:p>
        </p:txBody>
      </p:sp>
      <p:sp>
        <p:nvSpPr>
          <p:cNvPr id="4" name="Nav Activity"/>
          <p:cNvSpPr txBox="1"/>
          <p:nvPr/>
        </p:nvSpPr>
        <p:spPr>
          <a:xfrm>
            <a:off x="5715000" y="502920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Arial"/>
              </a:rPr>
              <a:t>Activity</a:t>
            </a:r>
          </a:p>
        </p:txBody>
      </p:sp>
      <p:sp>
        <p:nvSpPr>
          <p:cNvPr id="5" name="Nav Discussion"/>
          <p:cNvSpPr txBox="1"/>
          <p:nvPr/>
        </p:nvSpPr>
        <p:spPr>
          <a:xfrm>
            <a:off x="7269480" y="502920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Arial"/>
              </a:rPr>
              <a:t>Discussion</a:t>
            </a:r>
          </a:p>
        </p:txBody>
      </p:sp>
      <p:pic>
        <p:nvPicPr>
          <p:cNvPr id="6" name="OCBC logo" descr="ocbc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457200"/>
            <a:ext cx="1451786" cy="393192"/>
          </a:xfrm>
          <a:prstGeom prst="rect">
            <a:avLst/>
          </a:prstGeom>
        </p:spPr>
      </p:pic>
      <p:cxnSp>
        <p:nvCxnSpPr>
          <p:cNvPr id="7" name="Nav rule"/>
          <p:cNvCxnSpPr/>
          <p:nvPr/>
        </p:nvCxnSpPr>
        <p:spPr>
          <a:xfrm>
            <a:off x="731520" y="1097280"/>
            <a:ext cx="10725912" cy="0"/>
          </a:xfrm>
          <a:prstGeom prst="line">
            <a:avLst/>
          </a:prstGeom>
          <a:ln w="12700">
            <a:solidFill>
              <a:srgbClr val="5A5A60"/>
            </a:solidFill>
          </a:ln>
        </p:spPr>
      </p:cxnSp>
      <p:sp>
        <p:nvSpPr>
          <p:cNvPr id="8" name="Kicker"/>
          <p:cNvSpPr txBox="1"/>
          <p:nvPr/>
        </p:nvSpPr>
        <p:spPr>
          <a:xfrm>
            <a:off x="777240" y="1298448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22222"/>
                </a:solidFill>
                <a:latin typeface="Arial"/>
              </a:rPr>
              <a:t>PROMPTING</a:t>
            </a:r>
          </a:p>
        </p:txBody>
      </p:sp>
      <p:sp>
        <p:nvSpPr>
          <p:cNvPr id="9" name="Title"/>
          <p:cNvSpPr txBox="1"/>
          <p:nvPr/>
        </p:nvSpPr>
        <p:spPr>
          <a:xfrm>
            <a:off x="777240" y="1783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0" b="1">
                <a:gradFill rotWithShape="1">
                  <a:gsLst>
                    <a:gs pos="0">
                      <a:srgbClr val="6B3FA8"/>
                    </a:gs>
                    <a:gs pos="100000">
                      <a:srgbClr val="C64FC0"/>
                    </a:gs>
                  </a:gsLst>
                  <a:lin ang="0" scaled="0"/>
                </a:gradFill>
                <a:latin typeface="Arial"/>
              </a:rPr>
              <a:t>COSTAR FRAMEWORK</a:t>
            </a:r>
          </a:p>
        </p:txBody>
      </p:sp>
      <p:sp>
        <p:nvSpPr>
          <p:cNvPr id="10" name="Gradient bar"/>
          <p:cNvSpPr/>
          <p:nvPr/>
        </p:nvSpPr>
        <p:spPr>
          <a:xfrm>
            <a:off x="347472" y="6199632"/>
            <a:ext cx="11503152" cy="658368"/>
          </a:xfrm>
          <a:prstGeom prst="rect">
            <a:avLst/>
          </a:prstGeom>
          <a:gradFill rotWithShape="1">
            <a:gsLst>
              <a:gs pos="0">
                <a:srgbClr val="7A3CC8"/>
              </a:gs>
              <a:gs pos="55000">
                <a:srgbClr val="D774D6"/>
              </a:gs>
              <a:gs pos="100000">
                <a:srgbClr val="8B40C8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abel THE SIX BOXES"/>
          <p:cNvSpPr txBox="1"/>
          <p:nvPr/>
        </p:nvSpPr>
        <p:spPr>
          <a:xfrm>
            <a:off x="914400" y="28346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Arial"/>
              </a:rPr>
              <a:t>THE SIX BOXES</a:t>
            </a:r>
          </a:p>
        </p:txBody>
      </p:sp>
      <p:sp>
        <p:nvSpPr>
          <p:cNvPr id="12" name="Label HOW TO USE IT"/>
          <p:cNvSpPr txBox="1"/>
          <p:nvPr/>
        </p:nvSpPr>
        <p:spPr>
          <a:xfrm>
            <a:off x="7589520" y="28346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Arial"/>
              </a:rPr>
              <a:t>HOW TO USE IT</a:t>
            </a:r>
          </a:p>
        </p:txBody>
      </p:sp>
      <p:sp>
        <p:nvSpPr>
          <p:cNvPr id="13" name="Six boxes card"/>
          <p:cNvSpPr/>
          <p:nvPr/>
        </p:nvSpPr>
        <p:spPr>
          <a:xfrm>
            <a:off x="868680" y="3154680"/>
            <a:ext cx="6446520" cy="2834640"/>
          </a:xfrm>
          <a:prstGeom prst="rect">
            <a:avLst/>
          </a:prstGeom>
          <a:solidFill>
            <a:srgbClr val="FFFFFF">
              <a:alpha val="9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How to use card"/>
          <p:cNvSpPr/>
          <p:nvPr/>
        </p:nvSpPr>
        <p:spPr>
          <a:xfrm>
            <a:off x="7589520" y="3154680"/>
            <a:ext cx="4114800" cy="2834640"/>
          </a:xfrm>
          <a:prstGeom prst="rect">
            <a:avLst/>
          </a:prstGeom>
          <a:solidFill>
            <a:srgbClr val="FFFFFF">
              <a:alpha val="9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Letter C"/>
          <p:cNvSpPr txBox="1"/>
          <p:nvPr/>
        </p:nvSpPr>
        <p:spPr>
          <a:xfrm>
            <a:off x="1097280" y="3310128"/>
            <a:ext cx="457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gradFill rotWithShape="1">
                  <a:gsLst>
                    <a:gs pos="0">
                      <a:srgbClr val="6B3FA8"/>
                    </a:gs>
                    <a:gs pos="100000">
                      <a:srgbClr val="C64FC0"/>
                    </a:gs>
                  </a:gsLst>
                  <a:lin ang="0" scaled="0"/>
                </a:gradFill>
                <a:latin typeface="Arial"/>
              </a:rPr>
              <a:t>C</a:t>
            </a:r>
          </a:p>
        </p:txBody>
      </p:sp>
      <p:sp>
        <p:nvSpPr>
          <p:cNvPr id="16" name="Word Context"/>
          <p:cNvSpPr txBox="1"/>
          <p:nvPr/>
        </p:nvSpPr>
        <p:spPr>
          <a:xfrm>
            <a:off x="1554480" y="3310128"/>
            <a:ext cx="1325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Arial"/>
              </a:rPr>
              <a:t>Context</a:t>
            </a:r>
          </a:p>
        </p:txBody>
      </p:sp>
      <p:sp>
        <p:nvSpPr>
          <p:cNvPr id="17" name="Desc Context"/>
          <p:cNvSpPr txBox="1"/>
          <p:nvPr/>
        </p:nvSpPr>
        <p:spPr>
          <a:xfrm>
            <a:off x="2880360" y="3310128"/>
            <a:ext cx="4297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555E"/>
                </a:solidFill>
                <a:latin typeface="Arial"/>
              </a:rPr>
              <a:t>the background the model needs to know</a:t>
            </a:r>
          </a:p>
        </p:txBody>
      </p:sp>
      <p:sp>
        <p:nvSpPr>
          <p:cNvPr id="18" name="Letter O"/>
          <p:cNvSpPr txBox="1"/>
          <p:nvPr/>
        </p:nvSpPr>
        <p:spPr>
          <a:xfrm>
            <a:off x="1097280" y="3735324"/>
            <a:ext cx="457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gradFill rotWithShape="1">
                  <a:gsLst>
                    <a:gs pos="0">
                      <a:srgbClr val="6B3FA8"/>
                    </a:gs>
                    <a:gs pos="100000">
                      <a:srgbClr val="C64FC0"/>
                    </a:gs>
                  </a:gsLst>
                  <a:lin ang="0" scaled="0"/>
                </a:gradFill>
                <a:latin typeface="Arial"/>
              </a:rPr>
              <a:t>O</a:t>
            </a:r>
          </a:p>
        </p:txBody>
      </p:sp>
      <p:sp>
        <p:nvSpPr>
          <p:cNvPr id="19" name="Word Objective"/>
          <p:cNvSpPr txBox="1"/>
          <p:nvPr/>
        </p:nvSpPr>
        <p:spPr>
          <a:xfrm>
            <a:off x="1554480" y="3735324"/>
            <a:ext cx="1325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Arial"/>
              </a:rPr>
              <a:t>Objective</a:t>
            </a:r>
          </a:p>
        </p:txBody>
      </p:sp>
      <p:sp>
        <p:nvSpPr>
          <p:cNvPr id="20" name="Desc Objective"/>
          <p:cNvSpPr txBox="1"/>
          <p:nvPr/>
        </p:nvSpPr>
        <p:spPr>
          <a:xfrm>
            <a:off x="2880360" y="3735324"/>
            <a:ext cx="4297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555E"/>
                </a:solidFill>
                <a:latin typeface="Arial"/>
              </a:rPr>
              <a:t>the task, stated exactly</a:t>
            </a:r>
          </a:p>
        </p:txBody>
      </p:sp>
      <p:sp>
        <p:nvSpPr>
          <p:cNvPr id="21" name="Letter S"/>
          <p:cNvSpPr txBox="1"/>
          <p:nvPr/>
        </p:nvSpPr>
        <p:spPr>
          <a:xfrm>
            <a:off x="1097280" y="4160520"/>
            <a:ext cx="457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gradFill rotWithShape="1">
                  <a:gsLst>
                    <a:gs pos="0">
                      <a:srgbClr val="6B3FA8"/>
                    </a:gs>
                    <a:gs pos="100000">
                      <a:srgbClr val="C64FC0"/>
                    </a:gs>
                  </a:gsLst>
                  <a:lin ang="0" scaled="0"/>
                </a:gradFill>
                <a:latin typeface="Arial"/>
              </a:rPr>
              <a:t>S</a:t>
            </a:r>
          </a:p>
        </p:txBody>
      </p:sp>
      <p:sp>
        <p:nvSpPr>
          <p:cNvPr id="22" name="Word Style"/>
          <p:cNvSpPr txBox="1"/>
          <p:nvPr/>
        </p:nvSpPr>
        <p:spPr>
          <a:xfrm>
            <a:off x="1554480" y="4160520"/>
            <a:ext cx="1325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Arial"/>
              </a:rPr>
              <a:t>Style</a:t>
            </a:r>
          </a:p>
        </p:txBody>
      </p:sp>
      <p:sp>
        <p:nvSpPr>
          <p:cNvPr id="23" name="Desc Style"/>
          <p:cNvSpPr txBox="1"/>
          <p:nvPr/>
        </p:nvSpPr>
        <p:spPr>
          <a:xfrm>
            <a:off x="2880360" y="4160520"/>
            <a:ext cx="4297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555E"/>
                </a:solidFill>
                <a:latin typeface="Arial"/>
              </a:rPr>
              <a:t>how it should be written</a:t>
            </a:r>
          </a:p>
        </p:txBody>
      </p:sp>
      <p:sp>
        <p:nvSpPr>
          <p:cNvPr id="24" name="Letter T"/>
          <p:cNvSpPr txBox="1"/>
          <p:nvPr/>
        </p:nvSpPr>
        <p:spPr>
          <a:xfrm>
            <a:off x="1097280" y="4585716"/>
            <a:ext cx="457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gradFill rotWithShape="1">
                  <a:gsLst>
                    <a:gs pos="0">
                      <a:srgbClr val="6B3FA8"/>
                    </a:gs>
                    <a:gs pos="100000">
                      <a:srgbClr val="C64FC0"/>
                    </a:gs>
                  </a:gsLst>
                  <a:lin ang="0" scaled="0"/>
                </a:gradFill>
                <a:latin typeface="Arial"/>
              </a:rPr>
              <a:t>T</a:t>
            </a:r>
          </a:p>
        </p:txBody>
      </p:sp>
      <p:sp>
        <p:nvSpPr>
          <p:cNvPr id="25" name="Word Tone"/>
          <p:cNvSpPr txBox="1"/>
          <p:nvPr/>
        </p:nvSpPr>
        <p:spPr>
          <a:xfrm>
            <a:off x="1554480" y="4585716"/>
            <a:ext cx="1325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Arial"/>
              </a:rPr>
              <a:t>Tone</a:t>
            </a:r>
          </a:p>
        </p:txBody>
      </p:sp>
      <p:sp>
        <p:nvSpPr>
          <p:cNvPr id="26" name="Desc Tone"/>
          <p:cNvSpPr txBox="1"/>
          <p:nvPr/>
        </p:nvSpPr>
        <p:spPr>
          <a:xfrm>
            <a:off x="2880360" y="4585716"/>
            <a:ext cx="4297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555E"/>
                </a:solidFill>
                <a:latin typeface="Arial"/>
              </a:rPr>
              <a:t>how it should feel to the reader</a:t>
            </a:r>
          </a:p>
        </p:txBody>
      </p:sp>
      <p:sp>
        <p:nvSpPr>
          <p:cNvPr id="27" name="Letter A"/>
          <p:cNvSpPr txBox="1"/>
          <p:nvPr/>
        </p:nvSpPr>
        <p:spPr>
          <a:xfrm>
            <a:off x="1097280" y="5010912"/>
            <a:ext cx="457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gradFill rotWithShape="1">
                  <a:gsLst>
                    <a:gs pos="0">
                      <a:srgbClr val="6B3FA8"/>
                    </a:gs>
                    <a:gs pos="100000">
                      <a:srgbClr val="C64FC0"/>
                    </a:gs>
                  </a:gsLst>
                  <a:lin ang="0" scaled="0"/>
                </a:gradFill>
                <a:latin typeface="Arial"/>
              </a:rPr>
              <a:t>A</a:t>
            </a:r>
          </a:p>
        </p:txBody>
      </p:sp>
      <p:sp>
        <p:nvSpPr>
          <p:cNvPr id="28" name="Word Audience"/>
          <p:cNvSpPr txBox="1"/>
          <p:nvPr/>
        </p:nvSpPr>
        <p:spPr>
          <a:xfrm>
            <a:off x="1554480" y="5010912"/>
            <a:ext cx="1325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Arial"/>
              </a:rPr>
              <a:t>Audience</a:t>
            </a:r>
          </a:p>
        </p:txBody>
      </p:sp>
      <p:sp>
        <p:nvSpPr>
          <p:cNvPr id="29" name="Desc Audience"/>
          <p:cNvSpPr txBox="1"/>
          <p:nvPr/>
        </p:nvSpPr>
        <p:spPr>
          <a:xfrm>
            <a:off x="2880360" y="5010912"/>
            <a:ext cx="4297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555E"/>
                </a:solidFill>
                <a:latin typeface="Arial"/>
              </a:rPr>
              <a:t>who will read it</a:t>
            </a:r>
          </a:p>
        </p:txBody>
      </p:sp>
      <p:sp>
        <p:nvSpPr>
          <p:cNvPr id="30" name="Letter R"/>
          <p:cNvSpPr txBox="1"/>
          <p:nvPr/>
        </p:nvSpPr>
        <p:spPr>
          <a:xfrm>
            <a:off x="1097280" y="5436108"/>
            <a:ext cx="457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gradFill rotWithShape="1">
                  <a:gsLst>
                    <a:gs pos="0">
                      <a:srgbClr val="6B3FA8"/>
                    </a:gs>
                    <a:gs pos="100000">
                      <a:srgbClr val="C64FC0"/>
                    </a:gs>
                  </a:gsLst>
                  <a:lin ang="0" scaled="0"/>
                </a:gradFill>
                <a:latin typeface="Arial"/>
              </a:rPr>
              <a:t>R</a:t>
            </a:r>
          </a:p>
        </p:txBody>
      </p:sp>
      <p:sp>
        <p:nvSpPr>
          <p:cNvPr id="31" name="Word Response"/>
          <p:cNvSpPr txBox="1"/>
          <p:nvPr/>
        </p:nvSpPr>
        <p:spPr>
          <a:xfrm>
            <a:off x="1554480" y="5436108"/>
            <a:ext cx="1325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Arial"/>
              </a:rPr>
              <a:t>Response</a:t>
            </a:r>
          </a:p>
        </p:txBody>
      </p:sp>
      <p:sp>
        <p:nvSpPr>
          <p:cNvPr id="32" name="Desc Response"/>
          <p:cNvSpPr txBox="1"/>
          <p:nvPr/>
        </p:nvSpPr>
        <p:spPr>
          <a:xfrm>
            <a:off x="2880360" y="5436108"/>
            <a:ext cx="4297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555E"/>
                </a:solidFill>
                <a:latin typeface="Arial"/>
              </a:rPr>
              <a:t>format, length and language of the answer</a:t>
            </a:r>
          </a:p>
        </p:txBody>
      </p:sp>
      <p:sp>
        <p:nvSpPr>
          <p:cNvPr id="33" name="Steps"/>
          <p:cNvSpPr txBox="1"/>
          <p:nvPr/>
        </p:nvSpPr>
        <p:spPr>
          <a:xfrm>
            <a:off x="7818120" y="3310128"/>
            <a:ext cx="37033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>
                <a:gradFill rotWithShape="1">
                  <a:gsLst>
                    <a:gs pos="0">
                      <a:srgbClr val="6B3FA8"/>
                    </a:gs>
                    <a:gs pos="100000">
                      <a:srgbClr val="C64FC0"/>
                    </a:gs>
                  </a:gsLst>
                  <a:lin ang="0" scaled="0"/>
                </a:gradFill>
                <a:latin typeface="Arial"/>
              </a:rPr>
              <a:t>1.  </a:t>
            </a:r>
            <a:r>
              <a:rPr sz="1600" b="0">
                <a:solidFill>
                  <a:srgbClr val="222222"/>
                </a:solidFill>
                <a:latin typeface="Arial"/>
              </a:rPr>
              <a:t>Fill the six boxes before you press enter.</a:t>
            </a:r>
          </a:p>
          <a:p>
            <a:pPr algn="l">
              <a:spcAft>
                <a:spcPts val="1400"/>
              </a:spcAft>
            </a:pPr>
            <a:r>
              <a:rPr sz="1600" b="1">
                <a:gradFill rotWithShape="1">
                  <a:gsLst>
                    <a:gs pos="0">
                      <a:srgbClr val="6B3FA8"/>
                    </a:gs>
                    <a:gs pos="100000">
                      <a:srgbClr val="C64FC0"/>
                    </a:gs>
                  </a:gsLst>
                  <a:lin ang="0" scaled="0"/>
                </a:gradFill>
                <a:latin typeface="Arial"/>
              </a:rPr>
              <a:t>2.  </a:t>
            </a:r>
            <a:r>
              <a:rPr sz="1600" b="0">
                <a:solidFill>
                  <a:srgbClr val="222222"/>
                </a:solidFill>
                <a:latin typeface="Arial"/>
              </a:rPr>
              <a:t>Skip what you do not need.</a:t>
            </a:r>
          </a:p>
          <a:p>
            <a:pPr algn="l">
              <a:spcAft>
                <a:spcPts val="1400"/>
              </a:spcAft>
            </a:pPr>
            <a:r>
              <a:rPr sz="1600" b="1">
                <a:gradFill rotWithShape="1">
                  <a:gsLst>
                    <a:gs pos="0">
                      <a:srgbClr val="6B3FA8"/>
                    </a:gs>
                    <a:gs pos="100000">
                      <a:srgbClr val="C64FC0"/>
                    </a:gs>
                  </a:gsLst>
                  <a:lin ang="0" scaled="0"/>
                </a:gradFill>
                <a:latin typeface="Arial"/>
              </a:rPr>
              <a:t>3.  </a:t>
            </a:r>
            <a:r>
              <a:rPr sz="1600" b="0">
                <a:solidFill>
                  <a:srgbClr val="222222"/>
                </a:solidFill>
                <a:latin typeface="Arial"/>
              </a:rPr>
              <a:t>R does the heavy lifting: exact format, length and language.</a:t>
            </a:r>
          </a:p>
          <a:p>
            <a:pPr algn="l">
              <a:spcAft>
                <a:spcPts val="1400"/>
              </a:spcAft>
            </a:pPr>
            <a:r>
              <a:rPr sz="1600" b="1">
                <a:gradFill rotWithShape="1">
                  <a:gsLst>
                    <a:gs pos="0">
                      <a:srgbClr val="6B3FA8"/>
                    </a:gs>
                    <a:gs pos="100000">
                      <a:srgbClr val="C64FC0"/>
                    </a:gs>
                  </a:gsLst>
                  <a:lin ang="0" scaled="0"/>
                </a:gradFill>
                <a:latin typeface="Arial"/>
              </a:rPr>
              <a:t>4.  </a:t>
            </a:r>
            <a:r>
              <a:rPr sz="1600" b="0">
                <a:solidFill>
                  <a:srgbClr val="222222"/>
                </a:solidFill>
                <a:latin typeface="Arial"/>
              </a:rPr>
              <a:t>Not happy? Refine and ask again.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Nav Home"/>
          <p:cNvSpPr txBox="1"/>
          <p:nvPr/>
        </p:nvSpPr>
        <p:spPr>
          <a:xfrm>
            <a:off x="4160520" y="502920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Arial"/>
              </a:rPr>
              <a:t>Home</a:t>
            </a:r>
          </a:p>
        </p:txBody>
      </p:sp>
      <p:sp>
        <p:nvSpPr>
          <p:cNvPr id="4" name="Nav Activity"/>
          <p:cNvSpPr txBox="1"/>
          <p:nvPr/>
        </p:nvSpPr>
        <p:spPr>
          <a:xfrm>
            <a:off x="5715000" y="502920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Arial"/>
              </a:rPr>
              <a:t>Activity</a:t>
            </a:r>
          </a:p>
        </p:txBody>
      </p:sp>
      <p:sp>
        <p:nvSpPr>
          <p:cNvPr id="5" name="Nav Discussion"/>
          <p:cNvSpPr txBox="1"/>
          <p:nvPr/>
        </p:nvSpPr>
        <p:spPr>
          <a:xfrm>
            <a:off x="7269480" y="502920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Arial"/>
              </a:rPr>
              <a:t>Discussion</a:t>
            </a:r>
          </a:p>
        </p:txBody>
      </p:sp>
      <p:pic>
        <p:nvPicPr>
          <p:cNvPr id="6" name="OCBC logo" descr="ocbc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457200"/>
            <a:ext cx="1451786" cy="393192"/>
          </a:xfrm>
          <a:prstGeom prst="rect">
            <a:avLst/>
          </a:prstGeom>
        </p:spPr>
      </p:pic>
      <p:cxnSp>
        <p:nvCxnSpPr>
          <p:cNvPr id="7" name="Nav rule"/>
          <p:cNvCxnSpPr/>
          <p:nvPr/>
        </p:nvCxnSpPr>
        <p:spPr>
          <a:xfrm>
            <a:off x="731520" y="1097280"/>
            <a:ext cx="10725912" cy="0"/>
          </a:xfrm>
          <a:prstGeom prst="line">
            <a:avLst/>
          </a:prstGeom>
          <a:ln w="12700">
            <a:solidFill>
              <a:srgbClr val="5A5A60"/>
            </a:solidFill>
          </a:ln>
        </p:spPr>
      </p:cxnSp>
      <p:sp>
        <p:nvSpPr>
          <p:cNvPr id="8" name="Kicker"/>
          <p:cNvSpPr txBox="1"/>
          <p:nvPr/>
        </p:nvSpPr>
        <p:spPr>
          <a:xfrm>
            <a:off x="777240" y="1298448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22222"/>
                </a:solidFill>
                <a:latin typeface="Arial"/>
              </a:rPr>
              <a:t>PROMPTING</a:t>
            </a:r>
          </a:p>
        </p:txBody>
      </p:sp>
      <p:sp>
        <p:nvSpPr>
          <p:cNvPr id="9" name="Title"/>
          <p:cNvSpPr txBox="1"/>
          <p:nvPr/>
        </p:nvSpPr>
        <p:spPr>
          <a:xfrm>
            <a:off x="777240" y="1783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0" b="1">
                <a:gradFill rotWithShape="1">
                  <a:gsLst>
                    <a:gs pos="0">
                      <a:srgbClr val="6B3FA8"/>
                    </a:gs>
                    <a:gs pos="100000">
                      <a:srgbClr val="C64FC0"/>
                    </a:gs>
                  </a:gsLst>
                  <a:lin ang="0" scaled="0"/>
                </a:gradFill>
                <a:latin typeface="Arial"/>
              </a:rPr>
              <a:t>COSTAR, FILLED IN</a:t>
            </a:r>
          </a:p>
        </p:txBody>
      </p:sp>
      <p:sp>
        <p:nvSpPr>
          <p:cNvPr id="10" name="Gradient bar"/>
          <p:cNvSpPr/>
          <p:nvPr/>
        </p:nvSpPr>
        <p:spPr>
          <a:xfrm>
            <a:off x="347472" y="6199632"/>
            <a:ext cx="11503152" cy="658368"/>
          </a:xfrm>
          <a:prstGeom prst="rect">
            <a:avLst/>
          </a:prstGeom>
          <a:gradFill rotWithShape="1">
            <a:gsLst>
              <a:gs pos="0">
                <a:srgbClr val="7A3CC8"/>
              </a:gs>
              <a:gs pos="55000">
                <a:srgbClr val="D774D6"/>
              </a:gs>
              <a:gs pos="100000">
                <a:srgbClr val="8B40C8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abel PROMPT"/>
          <p:cNvSpPr txBox="1"/>
          <p:nvPr/>
        </p:nvSpPr>
        <p:spPr>
          <a:xfrm>
            <a:off x="914400" y="28346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Arial"/>
              </a:rPr>
              <a:t>PROMPT</a:t>
            </a:r>
          </a:p>
        </p:txBody>
      </p:sp>
      <p:sp>
        <p:nvSpPr>
          <p:cNvPr id="12" name="Label RESULT"/>
          <p:cNvSpPr txBox="1"/>
          <p:nvPr/>
        </p:nvSpPr>
        <p:spPr>
          <a:xfrm>
            <a:off x="6263640" y="28346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Arial"/>
              </a:rPr>
              <a:t>RESULT</a:t>
            </a:r>
          </a:p>
        </p:txBody>
      </p:sp>
      <p:sp>
        <p:nvSpPr>
          <p:cNvPr id="13" name="Prompt card"/>
          <p:cNvSpPr/>
          <p:nvPr/>
        </p:nvSpPr>
        <p:spPr>
          <a:xfrm>
            <a:off x="868680" y="3154680"/>
            <a:ext cx="5120640" cy="2880360"/>
          </a:xfrm>
          <a:prstGeom prst="rect">
            <a:avLst/>
          </a:prstGeom>
          <a:solidFill>
            <a:srgbClr val="FFFFFF">
              <a:alpha val="9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sult card"/>
          <p:cNvSpPr/>
          <p:nvPr/>
        </p:nvSpPr>
        <p:spPr>
          <a:xfrm>
            <a:off x="6263640" y="3154680"/>
            <a:ext cx="5440680" cy="2880360"/>
          </a:xfrm>
          <a:prstGeom prst="rect">
            <a:avLst/>
          </a:prstGeom>
          <a:solidFill>
            <a:srgbClr val="FFFFFF">
              <a:alpha val="9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/>
          <p:cNvSpPr txBox="1"/>
          <p:nvPr/>
        </p:nvSpPr>
        <p:spPr>
          <a:xfrm>
            <a:off x="1051560" y="3273552"/>
            <a:ext cx="4800600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7472" indent="-347472">
              <a:spcAft>
                <a:spcPts val="500"/>
              </a:spcAft>
              <a:tabLst>
                <a:tab pos="347472" algn="l"/>
              </a:tabLst>
            </a:pPr>
            <a:r>
              <a:rPr sz="1500" b="1">
                <a:gradFill rotWithShape="1">
                  <a:gsLst>
                    <a:gs pos="0">
                      <a:srgbClr val="6B3FA8"/>
                    </a:gs>
                    <a:gs pos="100000">
                      <a:srgbClr val="C64FC0"/>
                    </a:gs>
                  </a:gsLst>
                  <a:lin ang="0" scaled="0"/>
                </a:gradFill>
                <a:latin typeface="Arial"/>
              </a:rPr>
              <a:t>C	</a:t>
            </a:r>
            <a:r>
              <a:rPr sz="1400" b="0">
                <a:solidFill>
                  <a:srgbClr val="222222"/>
                </a:solidFill>
                <a:latin typeface="Arial"/>
              </a:rPr>
              <a:t>Saya team leader operasional cabang. Di bawah saya tempel </a:t>
            </a:r>
            <a:r>
              <a:rPr sz="1400" b="1">
                <a:solidFill>
                  <a:srgbClr val="222222"/>
                </a:solidFill>
                <a:latin typeface="Arial"/>
              </a:rPr>
              <a:t>catatan komplain nasabah</a:t>
            </a:r>
            <a:r>
              <a:rPr sz="1400" b="0">
                <a:solidFill>
                  <a:srgbClr val="222222"/>
                </a:solidFill>
                <a:latin typeface="Arial"/>
              </a:rPr>
              <a:t> minggu ini.</a:t>
            </a:r>
          </a:p>
          <a:p>
            <a:pPr marL="347472" indent="-347472">
              <a:spcAft>
                <a:spcPts val="500"/>
              </a:spcAft>
              <a:tabLst>
                <a:tab pos="347472" algn="l"/>
              </a:tabLst>
            </a:pPr>
            <a:r>
              <a:rPr sz="1500" b="1">
                <a:gradFill rotWithShape="1">
                  <a:gsLst>
                    <a:gs pos="0">
                      <a:srgbClr val="6B3FA8"/>
                    </a:gs>
                    <a:gs pos="100000">
                      <a:srgbClr val="C64FC0"/>
                    </a:gs>
                  </a:gsLst>
                  <a:lin ang="0" scaled="0"/>
                </a:gradFill>
                <a:latin typeface="Arial"/>
              </a:rPr>
              <a:t>O	</a:t>
            </a:r>
            <a:r>
              <a:rPr sz="1400" b="0">
                <a:solidFill>
                  <a:srgbClr val="222222"/>
                </a:solidFill>
                <a:latin typeface="Arial"/>
              </a:rPr>
              <a:t>Buat </a:t>
            </a:r>
            <a:r>
              <a:rPr sz="1400" b="1">
                <a:solidFill>
                  <a:srgbClr val="222222"/>
                </a:solidFill>
                <a:latin typeface="Arial"/>
              </a:rPr>
              <a:t>laporan rekap komplain</a:t>
            </a:r>
            <a:r>
              <a:rPr sz="1400" b="0">
                <a:solidFill>
                  <a:srgbClr val="222222"/>
                </a:solidFill>
                <a:latin typeface="Arial"/>
              </a:rPr>
              <a:t> berbentuk tabel.</a:t>
            </a:r>
          </a:p>
          <a:p>
            <a:pPr marL="347472" indent="-347472">
              <a:spcAft>
                <a:spcPts val="500"/>
              </a:spcAft>
              <a:tabLst>
                <a:tab pos="347472" algn="l"/>
              </a:tabLst>
            </a:pPr>
            <a:r>
              <a:rPr sz="1500" b="1">
                <a:gradFill rotWithShape="1">
                  <a:gsLst>
                    <a:gs pos="0">
                      <a:srgbClr val="6B3FA8"/>
                    </a:gs>
                    <a:gs pos="100000">
                      <a:srgbClr val="C64FC0"/>
                    </a:gs>
                  </a:gsLst>
                  <a:lin ang="0" scaled="0"/>
                </a:gradFill>
                <a:latin typeface="Arial"/>
              </a:rPr>
              <a:t>S	</a:t>
            </a:r>
            <a:r>
              <a:rPr sz="1400" b="1">
                <a:solidFill>
                  <a:srgbClr val="222222"/>
                </a:solidFill>
                <a:latin typeface="Arial"/>
              </a:rPr>
              <a:t>Ringkas dan rapi</a:t>
            </a:r>
            <a:r>
              <a:rPr sz="1400" b="0">
                <a:solidFill>
                  <a:srgbClr val="222222"/>
                </a:solidFill>
                <a:latin typeface="Arial"/>
              </a:rPr>
              <a:t>, siap tempel ke email.</a:t>
            </a:r>
          </a:p>
          <a:p>
            <a:pPr marL="347472" indent="-347472">
              <a:spcAft>
                <a:spcPts val="500"/>
              </a:spcAft>
              <a:tabLst>
                <a:tab pos="347472" algn="l"/>
              </a:tabLst>
            </a:pPr>
            <a:r>
              <a:rPr sz="1500" b="1">
                <a:gradFill rotWithShape="1">
                  <a:gsLst>
                    <a:gs pos="0">
                      <a:srgbClr val="6B3FA8"/>
                    </a:gs>
                    <a:gs pos="100000">
                      <a:srgbClr val="C64FC0"/>
                    </a:gs>
                  </a:gsLst>
                  <a:lin ang="0" scaled="0"/>
                </a:gradFill>
                <a:latin typeface="Arial"/>
              </a:rPr>
              <a:t>T	</a:t>
            </a:r>
            <a:r>
              <a:rPr sz="1400" b="1">
                <a:solidFill>
                  <a:srgbClr val="222222"/>
                </a:solidFill>
                <a:latin typeface="Arial"/>
              </a:rPr>
              <a:t>Netral dan faktual.</a:t>
            </a:r>
          </a:p>
          <a:p>
            <a:pPr marL="347472" indent="-347472">
              <a:spcAft>
                <a:spcPts val="500"/>
              </a:spcAft>
              <a:tabLst>
                <a:tab pos="347472" algn="l"/>
              </a:tabLst>
            </a:pPr>
            <a:r>
              <a:rPr sz="1500" b="1">
                <a:gradFill rotWithShape="1">
                  <a:gsLst>
                    <a:gs pos="0">
                      <a:srgbClr val="6B3FA8"/>
                    </a:gs>
                    <a:gs pos="100000">
                      <a:srgbClr val="C64FC0"/>
                    </a:gs>
                  </a:gsLst>
                  <a:lin ang="0" scaled="0"/>
                </a:gradFill>
                <a:latin typeface="Arial"/>
              </a:rPr>
              <a:t>A	</a:t>
            </a:r>
            <a:r>
              <a:rPr sz="1400" b="0">
                <a:solidFill>
                  <a:srgbClr val="222222"/>
                </a:solidFill>
                <a:latin typeface="Arial"/>
              </a:rPr>
              <a:t>Kepala cabang, membaca dalam </a:t>
            </a:r>
            <a:r>
              <a:rPr sz="1400" b="1">
                <a:solidFill>
                  <a:srgbClr val="222222"/>
                </a:solidFill>
                <a:latin typeface="Arial"/>
              </a:rPr>
              <a:t>1 menit</a:t>
            </a:r>
            <a:r>
              <a:rPr sz="1400" b="0">
                <a:solidFill>
                  <a:srgbClr val="222222"/>
                </a:solidFill>
                <a:latin typeface="Arial"/>
              </a:rPr>
              <a:t>.</a:t>
            </a:r>
          </a:p>
          <a:p>
            <a:pPr marL="347472" indent="-347472">
              <a:spcAft>
                <a:spcPts val="500"/>
              </a:spcAft>
              <a:tabLst>
                <a:tab pos="347472" algn="l"/>
              </a:tabLst>
            </a:pPr>
            <a:r>
              <a:rPr sz="1500" b="1">
                <a:gradFill rotWithShape="1">
                  <a:gsLst>
                    <a:gs pos="0">
                      <a:srgbClr val="6B3FA8"/>
                    </a:gs>
                    <a:gs pos="100000">
                      <a:srgbClr val="C64FC0"/>
                    </a:gs>
                  </a:gsLst>
                  <a:lin ang="0" scaled="0"/>
                </a:gradFill>
                <a:latin typeface="Arial"/>
              </a:rPr>
              <a:t>R	</a:t>
            </a:r>
            <a:r>
              <a:rPr sz="1400" b="0">
                <a:solidFill>
                  <a:srgbClr val="222222"/>
                </a:solidFill>
                <a:latin typeface="Arial"/>
              </a:rPr>
              <a:t>Kolom persis: </a:t>
            </a:r>
            <a:r>
              <a:rPr sz="1400" b="1">
                <a:solidFill>
                  <a:srgbClr val="222222"/>
                </a:solidFill>
                <a:latin typeface="Arial"/>
              </a:rPr>
              <a:t>Tanggal, Kanal, Jenis Komplain, Status, Tindak Lanjut</a:t>
            </a:r>
            <a:r>
              <a:rPr sz="1400" b="0">
                <a:solidFill>
                  <a:srgbClr val="222222"/>
                </a:solidFill>
                <a:latin typeface="Arial"/>
              </a:rPr>
              <a:t>. Hanya dari catatan saya; data yang tidak ada tulis </a:t>
            </a:r>
            <a:r>
              <a:rPr sz="1400" b="1">
                <a:solidFill>
                  <a:srgbClr val="222222"/>
                </a:solidFill>
                <a:latin typeface="Arial"/>
              </a:rPr>
              <a:t>N/A</a:t>
            </a:r>
            <a:r>
              <a:rPr sz="1400" b="0">
                <a:solidFill>
                  <a:srgbClr val="222222"/>
                </a:solidFill>
                <a:latin typeface="Arial"/>
              </a:rPr>
              <a:t>. Jangan menambah atau mengarang.</a:t>
            </a:r>
          </a:p>
        </p:txBody>
      </p:sp>
      <p:sp>
        <p:nvSpPr>
          <p:cNvPr id="16" name="Table title"/>
          <p:cNvSpPr txBox="1"/>
          <p:nvPr/>
        </p:nvSpPr>
        <p:spPr>
          <a:xfrm>
            <a:off x="6446520" y="3273552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</a:rPr>
              <a:t>Rekap Komplain Nasabah · Minggu ke-2 Agustus</a:t>
            </a:r>
          </a:p>
        </p:txBody>
      </p:sp>
      <p:graphicFrame>
        <p:nvGraphicFramePr>
          <p:cNvPr id="17" name="Result table"/>
          <p:cNvGraphicFramePr>
            <a:graphicFrameLocks noGrp="1"/>
          </p:cNvGraphicFramePr>
          <p:nvPr/>
        </p:nvGraphicFramePr>
        <p:xfrm>
          <a:off x="6446520" y="3657600"/>
          <a:ext cx="5074920" cy="1810512"/>
        </p:xfrm>
        <a:graphic>
          <a:graphicData uri="http://schemas.openxmlformats.org/drawingml/2006/table">
            <a:tbl>
              <a:tblPr firstRow="1" bandRow="0"/>
              <a:tblGrid>
                <a:gridCol w="713232"/>
                <a:gridCol w="1024128"/>
                <a:gridCol w="1234440"/>
                <a:gridCol w="731520"/>
                <a:gridCol w="137160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2E96"/>
                          </a:solidFill>
                          <a:latin typeface="Arial"/>
                        </a:rPr>
                        <a:t>Tanggal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DAEC"/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2E96"/>
                          </a:solidFill>
                          <a:latin typeface="Arial"/>
                        </a:rPr>
                        <a:t>Kanal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DAEC"/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2E96"/>
                          </a:solidFill>
                          <a:latin typeface="Arial"/>
                        </a:rPr>
                        <a:t>Jenis Komplain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DAEC"/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2E96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DAEC"/>
                      </a:solidFill>
                    </a:lnB>
                    <a:solidFill>
                      <a:srgbClr val="F1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2E96"/>
                          </a:solidFill>
                          <a:latin typeface="Arial"/>
                        </a:rPr>
                        <a:t>Tindak Lanjut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DAEC"/>
                      </a:solidFill>
                    </a:lnB>
                    <a:solidFill>
                      <a:srgbClr val="F1EA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02/08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DA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Mobile banking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DA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Transfer gagal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DA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Selesai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DA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Dana dikembalikan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DA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04/08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DA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Cabang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DA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Antrean lama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DA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Proses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DA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Tambah teller jam sibuk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DA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05/08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DA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Call center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DA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Kartu tertelan ATM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DA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Selesai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DA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A82E9C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DAEC"/>
                      </a:solidFill>
                    </a:lnB>
                    <a:solidFill>
                      <a:srgbClr val="FBE8F6"/>
                    </a:solidFill>
                  </a:tcPr>
                </a:tc>
              </a:tr>
            </a:tbl>
          </a:graphicData>
        </a:graphic>
      </p:graphicFrame>
      <p:sp>
        <p:nvSpPr>
          <p:cNvPr id="18" name="Table note"/>
          <p:cNvSpPr txBox="1"/>
          <p:nvPr/>
        </p:nvSpPr>
        <p:spPr>
          <a:xfrm>
            <a:off x="6446520" y="560527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gradFill rotWithShape="1">
                  <a:gsLst>
                    <a:gs pos="0">
                      <a:srgbClr val="6B3FA8"/>
                    </a:gs>
                    <a:gs pos="100000">
                      <a:srgbClr val="C64FC0"/>
                    </a:gs>
                  </a:gsLst>
                  <a:lin ang="0" scaled="0"/>
                </a:gradFill>
                <a:latin typeface="Arial"/>
              </a:rPr>
              <a:t>✓  </a:t>
            </a:r>
            <a:r>
              <a:rPr sz="1200" b="0">
                <a:solidFill>
                  <a:srgbClr val="55555E"/>
                </a:solidFill>
                <a:latin typeface="Arial"/>
              </a:rPr>
              <a:t>Data kosong ditulis N/A, tidak dikarang.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COSTAR prompting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